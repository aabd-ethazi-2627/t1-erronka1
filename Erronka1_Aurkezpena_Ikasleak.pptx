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2064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9005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6015575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5369633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6024230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1912310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9307874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07238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07863739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Ongi etorri lehen erronkara. Hiru erronketatik hau da oinarria: Big Data eta IA kontzeptu guztiak ukituko dituzue, baina modu progresiboan. CNC Guard proiektuan, ARAKAIN Makineriak 50 CNC makina ditu Bilboko fabrika batean. Makina bat gelditzen denean, produkzioa gelditzen da — 1.200 euro orduko. Orain arte mantentzea erreaktiboa zen: hautsi arte itxaron, gero konpondu. Zuen lana: sistema prediktibo bat eraikitzea, hutsegitea gertatu AURRETIK jakin eta aurrea hartzeko. Hiru fasetan egingo dugu: datuak bildu, eredua entrenatu, eta ekoizpenean jarri. Aurkezpen honetan egitura osoa azalduko dut, soluziorik eman gabe — bidea zuek egin behar duzue.</a:t>
            </a:r>
          </a:p>
        </p:txBody>
      </p:sp>
      <p:sp>
        <p:nvSpPr>
          <p:cNvPr id="174372610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120946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86391863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Erakutsi saioaren egitura. Galderarik badagoen esan amaieran izango dela tartea.</a:t>
            </a:r>
          </a:p>
        </p:txBody>
      </p:sp>
      <p:sp>
        <p:nvSpPr>
          <p:cNvPr id="189087509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526411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32673427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ARAKAIN Makineriak 50 CNC makina ditu Bilboko fabrika batean. Makina hauek etengabe ari dira lanean, baina noizean behin hutsegiteak izaten dituzte. Makina bat gelditzen denean, produkzio-katea eteten da, eta horrek 1.200 euroko kostua du orduko. Orain arte, mantentze-lanak modu erreaktiboan egiten ziren: hautsi arte itxaron, gero konpondu. Gure helburua paradigma aldatzea da: sentsore-datuak erabiliz, hutsegitea gertatu AURRETIK jakin nahi dugu. Hau da Industria 4.0-ren oinarrietako bat: mantentze prediktiboa.</a:t>
            </a:r>
          </a:p>
        </p:txBody>
      </p:sp>
      <p:sp>
        <p:nvSpPr>
          <p:cNvPr id="141571450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0775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986027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8460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8DF1A1-1B22-1DA5-EC37-B823434F6EEF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814177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49385679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Arkitektura bi makina fisikotan banatuta dago. Zerbitzari nagusian (irakaslearena): simuladore bat CNC makinen sentsore-datuak sortzen ari da etengabe, CSV fitxategi gisa NFS bidez partekatuta. Zuen VM-an: Filebeat-ek NFS karpeta begiratzen du, fitxategi berriak detektatzen ditu, eta Kafka-ra bidaltzen ditu lerroz lerro. Kafka buffer gisa jokatzen du — NiFi eroriz gero, datuak ez dira galtzen. NiFi-k CSV lerroak JSON bihurtzen ditu eta Elasticsearch-era indexatzen ditu. Kibana-k Elasticsearch-etik irakurtzen du bistaratzeak egiteko. ML fasean, scoring-api bat gehituko dugu FastAPI-rekin. DENBORA: 5 minutu.</a:t>
            </a:r>
          </a:p>
        </p:txBody>
      </p:sp>
      <p:sp>
        <p:nvSpPr>
          <p:cNvPr id="6091684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732921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22482422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Dataset hau AI4I 2020 da, UCI Machine Learning Repository-tik. Klase-inoreka da erronka honetako kontzeptu kritikoenetako bat. Hutsegiteak %3,4 soilik dira — 10.000 errenkadatik 340 inguru. Honek esan nahi du eredu 'tonto' batek beti 0 iragarrita %96,6 accuracy lor dezakeela. Baina zero hutsegite detektatzen ditu, hau da, zero balio erantsi. Horregatik, metrika egokia aukeratu behar da: recall (zenbat hutsegite detektatu ditugun) garrantzitsuagoa da precision (zenbat alarma ziren benetakoak) baino. Fabrika batean, alarma faltsu batek mantentze-bisita bat dakar, baina detektatu gabeko hutsegite batek produkzio-geldialdia — 1.200 €/ordu. DENBORA: 5 minutu, klase-inoreka ondo azaldu.</a:t>
            </a:r>
          </a:p>
        </p:txBody>
      </p:sp>
      <p:sp>
        <p:nvSpPr>
          <p:cNvPr id="7242148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040840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47352735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Starter Kit-a Docker Compose bidez exekutatzen da. Filebeat eta NiFi konfiguratu behar dituzue; beste zerbitzuak (Kafka, ES, Kibana) prest daude. GAKOA: Filebeat-ek NFS bidez muntatutako karpeta bat irakurtzen du — simuladoreak zerbitzari nagusian sortzen dituen CSV fitxategiak. Zuen VM-an /mnt/cnc-stream/ karpeta gisa agertzen da (read-only). Filebeat-en konfigurazioak bi gauza kritiko ditu: (1) CSV goiburua iragaztea (datu gordinak bakarrik bidali behar dira), eta (2) Kafka-ren helbide zuzena erabiltzea (Docker sare barneko izena, ez localhost). DENBORA: 3 minutu zerbitzuak azaltzen.</a:t>
            </a:r>
          </a:p>
        </p:txBody>
      </p:sp>
      <p:sp>
        <p:nvSpPr>
          <p:cNvPr id="186588707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296211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97456313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Sarbide-taula erreferentziak. Kafka ez dago kanpotik eskuragarri — sare barnean baino ez da behar. scoring-api 3. fasean erabiliko duzue, eredua entrenatu ondoren. Gogoratu Docker sare barnean zerbitzu-izenak hostname gisa funtzionatzen dutela (adibidez, 'kafka' erabili, ez 'localhost', NiFi-tik Kafka-ra konektatzeko).</a:t>
            </a:r>
          </a:p>
        </p:txBody>
      </p:sp>
      <p:sp>
        <p:nvSpPr>
          <p:cNvPr id="20543850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90567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04590231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Lehen fasean datu-bilketa sistema eraikiko duzue. Hau da erronkaren oinarria: sentsore-datuak denbora errealean jaso, prozesatu, eta biltegiratu. Hiru osagai konfiguratu behar dituzue: Filebeat (CSV irakurlea), Kafka (bufferra), eta NiFi (transformazioa). Amaieran, datuak Elasticsearch-en egongo dira eta Kibana-n bistaratuko dituzue. Iraupena: aste 1. Pisua: %35.</a:t>
            </a:r>
          </a:p>
        </p:txBody>
      </p:sp>
      <p:sp>
        <p:nvSpPr>
          <p:cNvPr id="135240006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935484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6441645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Diagrama honek datu-bide osoa erakusten du. Lehen fasean eskuineko zatian zentratuko gara: Filebeat, Kafka, NiFi, ES, Kibana. Simuladorea irakasleak kudeatzen du — zuek ez duzue horretan esku hartzen. FILEBEAT: bere lana CSV fitxategi berriak detektatu eta lerroz lerro Kafka-ra bidaltzea da. Goiburua ('timestamp,machine_id,...') iragazi behar du, lerro garbiak bidaltzeko. KAFKA: bufferra. NiFi gelditzen bada, mezuak ez dira galtzen — Kafka-n pilatzen dira. NIFI: CSV lerro gordina hartu, JSON bihurtu (14 eremu, Avro schema erabiliz), eta Elasticsearch-era indexatu. KIBANA: lau panel sortu behar dituzue (line chart, heatmap, data table, KPI). DENBORA: 6 minutu.</a:t>
            </a:r>
          </a:p>
        </p:txBody>
      </p:sp>
      <p:sp>
        <p:nvSpPr>
          <p:cNvPr id="203136883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36540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43614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75445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47DFEF-49B8-B570-FD20-630B5BCB2FFF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285461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59805327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G1: Filebeat-ek registry fitxategian gordetzen du zer lerro irakurri duen. Registry gabe, berrabiaraztean fitxategi osoa berriro bidaliko luke → datu bikoiztuak ES-en. G2: NFS read-only da ikasleek ezin dituztelako simuladorearen fitxategiak ezabatu (GetFile prozesadoreak fitxategiak ezabatzen ditu irakurri ondoren). G3: goiburua datu bezala indexatuko litzateke, eta 'timestamp' testua ez da data gisa parseatuko → mapping error. G4: pentsatu CEO batek zer jakin nahi duen: zenbat makina dauden arriskuan, zein den hutsegite-tasa, zenbat diru aurreztu den predikzioarekin. DENBORA: 15 minutu taldeka.</a:t>
            </a:r>
          </a:p>
        </p:txBody>
      </p:sp>
      <p:sp>
        <p:nvSpPr>
          <p:cNvPr id="85133753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607395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80347780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Bigarren fasean ML eredua entrenatuko duzue. Hau da erronkaren muina: datu historikoetatik ikasi eta hutsegiteak iragartzen dituen eredu bat sortzea. Klase-inoreka (%3,4 hutsegite) da erronka nagusia — teknikoki eta kontzeptualki. Eredua .pkl fitxategi gisa gordeko da, 3. fasean scoring-api-k kargatzeko. Iraupena: aste 1,5. Pisua: %40. Moduluak: 5071 + 5072 + 5073.</a:t>
            </a:r>
          </a:p>
        </p:txBody>
      </p:sp>
      <p:sp>
        <p:nvSpPr>
          <p:cNvPr id="96241068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09874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52394697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Notebook-a Jupyter-en irekiko duzue eta urratsez urrats osatu. KLASE-INOREKA tratatzea da atalik garrantzitsuena. Hiru aukera dituzue: (a) class_weight='balanced' — ereduari esaten dio 'hutsegiteak garrantzitsuagoak dira'; (b) SMOTE — gutxiengo klasearen adibide sintetikoak sortzen ditu; (c) threshold doiketa — probabilitate-atalasea jaitsi recall hobetzeko. Edozein aukeratzen duzuena, JUSTIFIKATU zergatik. METRIKA: recall da gakoa. 1.200 €/ordu makina bat gelditzeak — alarma faltsu bat baino askoz garestiagoa. Hala ere, precision ere kontuan hartu behar da: 100 alarma faltsu egunean ez da onargarria. Orekatu. Eredua gordetzen duzuenean, scoring-api automatikoki kargatuko du restart egitean. DENBORA: aste 1,5.</a:t>
            </a:r>
          </a:p>
        </p:txBody>
      </p:sp>
      <p:sp>
        <p:nvSpPr>
          <p:cNvPr id="22681068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1664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73762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3637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8B5C2B-5CDD-1CE9-F113-15A2F0E84BA3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366050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28137760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G5: accuracy tranpa da klase-inorekarekin. %96,6 accuracy lortzen duzu beti 0 iragarrita, baina ereduak ez du ezer ikasi. G6: 1.200 €/ordu makina gelditzeak vs mantentze-bisita baten kostua. False negative baten kostua false positive batena baino askoz handiagoa da. G7: SMOTE (Synthetic Minority Over-sampling Technique) gutxiengo klasearen adibide sintetikoak sortzen ditu, ezaugarri-espazioan gertuko puntuen arteko interpolazioz. Egokia da klase-inoreka larria denean, baina kontuz: SMOTE-k ez ditu datu berriak sortzen, baizik eta daudenetan oinarritutako estimazioak. G8: biak ensemble metodoak dira. RF = bagging (ausazko zuhaitzak), XGBoost = boosting (zuhaitzak sekuentzialki hobetzen dira). DENBORA: 20 minutu taldeka.</a:t>
            </a:r>
          </a:p>
        </p:txBody>
      </p:sp>
      <p:sp>
        <p:nvSpPr>
          <p:cNvPr id="94042409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139096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37364071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Azken fasean, entrenatutako eredua ekoizpen-sistema batean txertatuko duzue. FastAPI scoring-api bat erabiliko da — zuen eredua kargatu eta HTTP bidez inferentzia egiten du. NiFi-k denbora errealean sentsore-datuak scoring-api-ra bidaltzen ditu, eta emaitzak (hutsegite iragarpenak) Elasticsearch-era indexatu eta Kibana-n bistaratzen dira. Hau da ML ingeniaritzaren bihotza: ereduak ez du balio Jupyter-en geratzen bada. Iraupena: aste 0,5. Pisua: %20. Moduluak: 5071 + 5075.</a:t>
            </a:r>
          </a:p>
        </p:txBody>
      </p:sp>
      <p:sp>
        <p:nvSpPr>
          <p:cNvPr id="127892781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713928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74049113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3. fasean ML ingeniaritza lantzen da: nola jarri eredu bat ekoizpenean. scoring-api-a FastAPI bidezkoa da — POST /predict endpoint-a du, sentsore-balioen zerrenda bat jaso eta hutsegite-probabilitatea itzultzen duena. Docker Compose-k automatikoki eraikitzen eta abiarazten du scoring zerbitzua. Eredua models/cnc_failure_model.pkl gisa gordetzen baduzue, scoring-api-k automatikoki kargatuko du. NiFi flow-a aldatu behar duzue: orain datuak ES-era zuzenean eraman beharrean, lehenengo scoring-api-ra bidali, eta emaitza (iragarpenarekin aberastuta) ES-era indexatu. Kibana-n alerta bat konfiguratu: hutsegite-probabilitatea %70 baino handiagoa bada, alerta piztu. DENBORA: aste 0,5.</a:t>
            </a:r>
          </a:p>
        </p:txBody>
      </p:sp>
      <p:sp>
        <p:nvSpPr>
          <p:cNvPr id="116458461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912546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38053669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G9: scoring-api-k input balidazioa behar du — sentsore-balio ezinezkoak (rpm negatiboa, tenperatura 0K...) detektatu eta errorea itzuli behar du, ez iragarpen okerra. G10: ML pipeline berrerabilgarria izatea da gakoa — notebook-a berriz exekutatu datu berriekin eta .pkl berria sortu. G11: feedback begizta = iragarpenak errealitatearekin konparatu eta eredua hobetzeko zikloa. Predikzio bat egin eta gero benetako emaitza jasotzen denean (hutsegitea gertatu da edo ez), datu hori erabili daiteke eredua bir-entrenatzeko. G12: monitorizazioa — ekoizpenean recall eta precision neurtu, ez bakarrik entrenamenduan. Dashboard bat sortu metrika hauekin. DENBORA: 15 minutu.</a:t>
            </a:r>
          </a:p>
        </p:txBody>
      </p:sp>
      <p:sp>
        <p:nvSpPr>
          <p:cNvPr id="20249846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83264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7089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793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526F4-DB0A-E087-9780-F53FB12DD0D8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20862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8869378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Entregableak GitHub edo antzeko repositorio batean bildu behar dira. Ziurtatu irakasle batek repositorioa klonatu eta docker compose up -d exekutatu dezakeela. Notebook-ak markdown azalpenak izan behar ditu — kodea ondo egoteaz gain, ulertzen duzuela erakutsi behar duzue. Filebeat konfigurazioa eta NiFi flow-ak dira 1. faseko entregable nagusiak. Eredua eta notebook-a 2. fasekoak. 3. fasean scoring-api-rekin integrazioa frogatu behar duzue. DENBORA: entregatu azken egunean, baina hasi lehen egunetik dokumentatzen.</a:t>
            </a:r>
          </a:p>
        </p:txBody>
      </p:sp>
      <p:sp>
        <p:nvSpPr>
          <p:cNvPr id="53180284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81989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81486498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Laburpen-txanda. Galderak egin ikasleei ideia nagusiez. Adibidez: 'Zein da GDPR eta AI Act-en arteko desberdintasun nagusia?'</a:t>
            </a:r>
          </a:p>
        </p:txBody>
      </p:sp>
      <p:sp>
        <p:nvSpPr>
          <p:cNvPr id="113310224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03435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146875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006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11CCA6-024F-0781-B343-22D684E85671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584371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67818894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Lehen erronka amaitu duzue. Orain badakizue datuak denbora errealean biltzen, ML ereduak entrenatzen, eta ekoizpenean jartzen. Erronka honetan ikasitako guztia funtsezkoa izango da hurrengo bi erronketarako. Erronka 2-an salmenta-inteligentziara jauzi egingo dugu: datu-lakea AWS S3-n, Spark batch + streaming, eta Grafana dashboard-ak. Erronka 3-an MLOps eta CI/CD landuko ditugu, ekoizpen-mailako sistema oso bat osatuz. Zorterik on eta eskerrik asko egin duzuen lanagatik!</a:t>
            </a:r>
          </a:p>
        </p:txBody>
      </p:sp>
      <p:sp>
        <p:nvSpPr>
          <p:cNvPr id="139416114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603518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62261447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2328237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10/12/2026</a:t>
            </a:fld>
            <a:endParaRPr lang="en-US"/>
          </a:p>
        </p:txBody>
      </p:sp>
      <p:sp>
        <p:nvSpPr>
          <p:cNvPr id="1969893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6541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7462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0636617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7848714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10/12/2026</a:t>
            </a:fld>
            <a:endParaRPr lang="en-US"/>
          </a:p>
        </p:txBody>
      </p:sp>
      <p:sp>
        <p:nvSpPr>
          <p:cNvPr id="19205186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71822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18818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8880811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785320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10/12/2026</a:t>
            </a:fld>
            <a:endParaRPr lang="en-US"/>
          </a:p>
        </p:txBody>
      </p:sp>
      <p:sp>
        <p:nvSpPr>
          <p:cNvPr id="14680704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18068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5773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1005574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7181727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124233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10/12/2026</a:t>
            </a:fld>
            <a:endParaRPr lang="en-US"/>
          </a:p>
        </p:txBody>
      </p:sp>
      <p:sp>
        <p:nvSpPr>
          <p:cNvPr id="9347076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618259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2682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655378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01602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899282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4217186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210257073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10/12/2026</a:t>
            </a:fld>
            <a:endParaRPr lang="en-US"/>
          </a:p>
        </p:txBody>
      </p:sp>
      <p:sp>
        <p:nvSpPr>
          <p:cNvPr id="9936003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027232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8904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16450217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10/12/2026</a:t>
            </a:fld>
            <a:endParaRPr lang="en-US"/>
          </a:p>
        </p:txBody>
      </p:sp>
      <p:sp>
        <p:nvSpPr>
          <p:cNvPr id="118218562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563317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13143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10/12/2026</a:t>
            </a:fld>
            <a:endParaRPr lang="en-US"/>
          </a:p>
        </p:txBody>
      </p:sp>
      <p:sp>
        <p:nvSpPr>
          <p:cNvPr id="15980063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31739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263308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80173390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73940365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190059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10/12/2026</a:t>
            </a:fld>
            <a:endParaRPr lang="en-US"/>
          </a:p>
        </p:txBody>
      </p:sp>
      <p:sp>
        <p:nvSpPr>
          <p:cNvPr id="17204707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591168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867686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67897092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59959248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66753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10/12/2026</a:t>
            </a:fld>
            <a:endParaRPr lang="en-US"/>
          </a:p>
        </p:txBody>
      </p:sp>
      <p:sp>
        <p:nvSpPr>
          <p:cNvPr id="23839500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874809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7647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9759146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820252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10/12/2026</a:t>
            </a:fld>
            <a:endParaRPr lang="en-US"/>
          </a:p>
        </p:txBody>
      </p:sp>
      <p:sp>
        <p:nvSpPr>
          <p:cNvPr id="3996424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59663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47120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4453418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20043110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10/12/2026</a:t>
            </a:fld>
            <a:endParaRPr lang="en-US"/>
          </a:p>
        </p:txBody>
      </p:sp>
      <p:sp>
        <p:nvSpPr>
          <p:cNvPr id="16298572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29703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28691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6774458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206660506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10/12/2026</a:t>
            </a:fld>
            <a:endParaRPr lang="en-US"/>
          </a:p>
        </p:txBody>
      </p:sp>
      <p:sp>
        <p:nvSpPr>
          <p:cNvPr id="156574265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302099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883540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u="sng" dirty="0"/>
          </a:p>
        </p:txBody>
      </p:sp>
      <p:sp>
        <p:nvSpPr>
          <p:cNvPr id="1468767254" name="TextBox 2"/>
          <p:cNvSpPr txBox="1"/>
          <p:nvPr/>
        </p:nvSpPr>
        <p:spPr bwMode="auto">
          <a:xfrm>
            <a:off x="952500" y="1143000"/>
            <a:ext cx="8572500" cy="332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u-ES" spc="288" dirty="0" smtClean="0">
                <a:solidFill>
                  <a:srgbClr val="A02834"/>
                </a:solidFill>
                <a:latin typeface="Courier New"/>
              </a:rPr>
              <a:t>AA</a:t>
            </a:r>
            <a:r>
              <a:rPr sz="1800" spc="288" dirty="0" smtClean="0">
                <a:solidFill>
                  <a:srgbClr val="A02834"/>
                </a:solidFill>
                <a:latin typeface="Courier New"/>
              </a:rPr>
              <a:t>BD </a:t>
            </a:r>
            <a:r>
              <a:rPr sz="1800" spc="288" dirty="0">
                <a:solidFill>
                  <a:srgbClr val="A02834"/>
                </a:solidFill>
                <a:latin typeface="Courier New"/>
              </a:rPr>
              <a:t>ESPEZIALIZAZIO KURTSOA · 1. ERRONKA</a:t>
            </a:r>
            <a:endParaRPr dirty="0"/>
          </a:p>
        </p:txBody>
      </p:sp>
      <p:sp>
        <p:nvSpPr>
          <p:cNvPr id="1645413934" name="TextBox 3"/>
          <p:cNvSpPr txBox="1"/>
          <p:nvPr/>
        </p:nvSpPr>
        <p:spPr bwMode="auto">
          <a:xfrm>
            <a:off x="952500" y="1714500"/>
            <a:ext cx="9525000" cy="419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defRPr/>
            </a:pPr>
            <a:r>
              <a:rPr sz="8250">
                <a:solidFill>
                  <a:srgbClr val="1A1A1A"/>
                </a:solidFill>
                <a:latin typeface="Georgia"/>
              </a:rPr>
              <a:t>CNC Guard: </a:t>
            </a:r>
            <a:r>
              <a:rPr sz="8250" i="1">
                <a:solidFill>
                  <a:srgbClr val="A02834"/>
                </a:solidFill>
                <a:latin typeface="Georgia"/>
              </a:rPr>
              <a:t>Mantentze</a:t>
            </a:r>
            <a:endParaRPr/>
          </a:p>
          <a:p>
            <a:pPr algn="l">
              <a:lnSpc>
                <a:spcPct val="98000"/>
              </a:lnSpc>
              <a:defRPr/>
            </a:pPr>
            <a:r>
              <a:rPr sz="8250">
                <a:solidFill>
                  <a:srgbClr val="1A1A1A"/>
                </a:solidFill>
                <a:latin typeface="Georgia"/>
              </a:rPr>
              <a:t> Prediktiboa</a:t>
            </a:r>
            <a:endParaRPr/>
          </a:p>
        </p:txBody>
      </p:sp>
      <p:sp>
        <p:nvSpPr>
          <p:cNvPr id="1227221980" name="TextBox 4"/>
          <p:cNvSpPr txBox="1"/>
          <p:nvPr/>
        </p:nvSpPr>
        <p:spPr bwMode="auto">
          <a:xfrm>
            <a:off x="952500" y="6191250"/>
            <a:ext cx="8572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defRPr/>
            </a:pPr>
            <a:r>
              <a:rPr sz="2550" dirty="0" err="1">
                <a:solidFill>
                  <a:srgbClr val="3A3A3A"/>
                </a:solidFill>
                <a:latin typeface="Arial"/>
              </a:rPr>
              <a:t>Denbora</a:t>
            </a:r>
            <a:r>
              <a:rPr sz="2550" dirty="0">
                <a:solidFill>
                  <a:srgbClr val="3A3A3A"/>
                </a:solidFill>
                <a:latin typeface="Arial"/>
              </a:rPr>
              <a:t> </a:t>
            </a:r>
            <a:r>
              <a:rPr sz="2550" dirty="0" err="1">
                <a:solidFill>
                  <a:srgbClr val="3A3A3A"/>
                </a:solidFill>
                <a:latin typeface="Arial"/>
              </a:rPr>
              <a:t>errealeko</a:t>
            </a:r>
            <a:r>
              <a:rPr sz="2550" dirty="0">
                <a:solidFill>
                  <a:srgbClr val="3A3A3A"/>
                </a:solidFill>
                <a:latin typeface="Arial"/>
              </a:rPr>
              <a:t> </a:t>
            </a:r>
            <a:r>
              <a:rPr sz="2550" dirty="0" err="1">
                <a:solidFill>
                  <a:srgbClr val="3A3A3A"/>
                </a:solidFill>
                <a:latin typeface="Arial"/>
              </a:rPr>
              <a:t>datu-hartzea</a:t>
            </a:r>
            <a:r>
              <a:rPr sz="2550" dirty="0">
                <a:solidFill>
                  <a:srgbClr val="3A3A3A"/>
                </a:solidFill>
                <a:latin typeface="Arial"/>
              </a:rPr>
              <a:t>, ML </a:t>
            </a:r>
            <a:r>
              <a:rPr sz="2550" dirty="0" err="1">
                <a:solidFill>
                  <a:srgbClr val="3A3A3A"/>
                </a:solidFill>
                <a:latin typeface="Arial"/>
              </a:rPr>
              <a:t>entrenamendua</a:t>
            </a:r>
            <a:r>
              <a:rPr sz="2550" dirty="0">
                <a:solidFill>
                  <a:srgbClr val="3A3A3A"/>
                </a:solidFill>
                <a:latin typeface="Arial"/>
              </a:rPr>
              <a:t> eta </a:t>
            </a:r>
            <a:r>
              <a:rPr sz="2550" dirty="0" err="1">
                <a:solidFill>
                  <a:srgbClr val="3A3A3A"/>
                </a:solidFill>
                <a:latin typeface="Arial"/>
              </a:rPr>
              <a:t>ekoizpenera</a:t>
            </a:r>
            <a:r>
              <a:rPr sz="2550" dirty="0">
                <a:solidFill>
                  <a:srgbClr val="3A3A3A"/>
                </a:solidFill>
                <a:latin typeface="Arial"/>
              </a:rPr>
              <a:t> </a:t>
            </a:r>
            <a:r>
              <a:rPr sz="2550" dirty="0" err="1">
                <a:solidFill>
                  <a:srgbClr val="3A3A3A"/>
                </a:solidFill>
                <a:latin typeface="Arial"/>
              </a:rPr>
              <a:t>eramatea</a:t>
            </a:r>
            <a:endParaRPr dirty="0"/>
          </a:p>
        </p:txBody>
      </p:sp>
      <p:sp>
        <p:nvSpPr>
          <p:cNvPr id="407159344" name="TextBox 5"/>
          <p:cNvSpPr txBox="1"/>
          <p:nvPr/>
        </p:nvSpPr>
        <p:spPr bwMode="auto">
          <a:xfrm>
            <a:off x="952500" y="7620000"/>
            <a:ext cx="8572500" cy="360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800" b="1" dirty="0" err="1" smtClean="0">
                <a:solidFill>
                  <a:srgbClr val="1A1A1A"/>
                </a:solidFill>
                <a:latin typeface="Courier New"/>
              </a:rPr>
              <a:t>Irakaslea</a:t>
            </a:r>
            <a:r>
              <a:rPr lang="eu-ES" sz="1800" b="1" dirty="0" smtClean="0">
                <a:solidFill>
                  <a:srgbClr val="1A1A1A"/>
                </a:solidFill>
                <a:latin typeface="Courier New"/>
              </a:rPr>
              <a:t>k</a:t>
            </a:r>
            <a:r>
              <a:rPr sz="1800" b="1" dirty="0" smtClean="0">
                <a:solidFill>
                  <a:srgbClr val="1A1A1A"/>
                </a:solidFill>
                <a:latin typeface="Courier New"/>
              </a:rPr>
              <a:t>   </a:t>
            </a:r>
            <a:r>
              <a:rPr lang="eu-ES" dirty="0" smtClean="0">
                <a:solidFill>
                  <a:srgbClr val="6B6B6B"/>
                </a:solidFill>
                <a:latin typeface="Courier New"/>
              </a:rPr>
              <a:t>Xabat, Lander, Aitor, Janire, Ion</a:t>
            </a:r>
            <a:endParaRPr dirty="0"/>
          </a:p>
        </p:txBody>
      </p:sp>
      <p:sp>
        <p:nvSpPr>
          <p:cNvPr id="1655508975" name="TextBox 6"/>
          <p:cNvSpPr txBox="1"/>
          <p:nvPr/>
        </p:nvSpPr>
        <p:spPr bwMode="auto">
          <a:xfrm>
            <a:off x="952500" y="7962900"/>
            <a:ext cx="8572500" cy="360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800" b="1" dirty="0" err="1">
                <a:solidFill>
                  <a:srgbClr val="1A1A1A"/>
                </a:solidFill>
                <a:latin typeface="Courier New"/>
              </a:rPr>
              <a:t>Zikloa</a:t>
            </a:r>
            <a:r>
              <a:rPr sz="1800" b="1" dirty="0">
                <a:solidFill>
                  <a:srgbClr val="1A1A1A"/>
                </a:solidFill>
                <a:latin typeface="Courier New"/>
              </a:rPr>
              <a:t>   </a:t>
            </a:r>
            <a:r>
              <a:rPr lang="eu-ES" sz="1800" dirty="0" smtClean="0">
                <a:solidFill>
                  <a:srgbClr val="6B6B6B"/>
                </a:solidFill>
                <a:latin typeface="Courier New"/>
              </a:rPr>
              <a:t>Espezialitatea</a:t>
            </a:r>
            <a:r>
              <a:rPr sz="1800" dirty="0" smtClean="0">
                <a:solidFill>
                  <a:srgbClr val="6B6B6B"/>
                </a:solidFill>
                <a:latin typeface="Courier New"/>
              </a:rPr>
              <a:t>· </a:t>
            </a:r>
            <a:r>
              <a:rPr lang="eu-ES" sz="1800" dirty="0" smtClean="0">
                <a:solidFill>
                  <a:srgbClr val="6B6B6B"/>
                </a:solidFill>
                <a:latin typeface="Courier New"/>
              </a:rPr>
              <a:t>AA eta </a:t>
            </a:r>
            <a:r>
              <a:rPr sz="1800" dirty="0" smtClean="0">
                <a:solidFill>
                  <a:srgbClr val="6B6B6B"/>
                </a:solidFill>
                <a:latin typeface="Courier New"/>
              </a:rPr>
              <a:t>Big Data</a:t>
            </a:r>
            <a:endParaRPr dirty="0"/>
          </a:p>
        </p:txBody>
      </p:sp>
      <p:sp>
        <p:nvSpPr>
          <p:cNvPr id="2113842583" name="TextBox 7"/>
          <p:cNvSpPr txBox="1"/>
          <p:nvPr/>
        </p:nvSpPr>
        <p:spPr bwMode="auto">
          <a:xfrm>
            <a:off x="952500" y="8305800"/>
            <a:ext cx="8572500" cy="360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800" b="1" dirty="0" err="1">
                <a:solidFill>
                  <a:srgbClr val="1A1A1A"/>
                </a:solidFill>
                <a:latin typeface="Courier New"/>
              </a:rPr>
              <a:t>Ikasturtea</a:t>
            </a:r>
            <a:r>
              <a:rPr sz="1800" b="1" dirty="0">
                <a:solidFill>
                  <a:srgbClr val="1A1A1A"/>
                </a:solidFill>
                <a:latin typeface="Courier New"/>
              </a:rPr>
              <a:t>   </a:t>
            </a:r>
            <a:r>
              <a:rPr sz="1800" dirty="0" smtClean="0">
                <a:solidFill>
                  <a:srgbClr val="6B6B6B"/>
                </a:solidFill>
                <a:latin typeface="Courier New"/>
              </a:rPr>
              <a:t>202</a:t>
            </a:r>
            <a:r>
              <a:rPr lang="eu-ES" sz="1800" dirty="0" smtClean="0">
                <a:solidFill>
                  <a:srgbClr val="6B6B6B"/>
                </a:solidFill>
                <a:latin typeface="Courier New"/>
              </a:rPr>
              <a:t>6 </a:t>
            </a:r>
            <a:r>
              <a:rPr sz="1800" dirty="0" smtClean="0">
                <a:solidFill>
                  <a:srgbClr val="6B6B6B"/>
                </a:solidFill>
                <a:latin typeface="Courier New"/>
              </a:rPr>
              <a:t>/ 202</a:t>
            </a:r>
            <a:r>
              <a:rPr lang="eu-ES" sz="1800" dirty="0" smtClean="0">
                <a:solidFill>
                  <a:srgbClr val="6B6B6B"/>
                </a:solidFill>
                <a:latin typeface="Courier New"/>
              </a:rPr>
              <a:t>7</a:t>
            </a:r>
            <a:endParaRPr dirty="0"/>
          </a:p>
        </p:txBody>
      </p:sp>
      <p:pic>
        <p:nvPicPr>
          <p:cNvPr id="1673442243" name="Picture 13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686425" y="8667750"/>
            <a:ext cx="1751982" cy="657225"/>
          </a:xfrm>
          <a:prstGeom prst="rect">
            <a:avLst/>
          </a:prstGeom>
        </p:spPr>
      </p:pic>
      <p:pic>
        <p:nvPicPr>
          <p:cNvPr id="1253639233" name="Picture 14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724774" y="8667750"/>
            <a:ext cx="3234731" cy="657225"/>
          </a:xfrm>
          <a:prstGeom prst="rect">
            <a:avLst/>
          </a:prstGeom>
        </p:spPr>
      </p:pic>
      <p:pic>
        <p:nvPicPr>
          <p:cNvPr id="1056165498" name="Picture 15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258550" y="8667750"/>
            <a:ext cx="657225" cy="657225"/>
          </a:xfrm>
          <a:prstGeom prst="rect">
            <a:avLst/>
          </a:prstGeom>
        </p:spPr>
      </p:pic>
      <p:pic>
        <p:nvPicPr>
          <p:cNvPr id="733328034" name="Picture 16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182475" y="8667750"/>
            <a:ext cx="2837656" cy="657225"/>
          </a:xfrm>
          <a:prstGeom prst="rect">
            <a:avLst/>
          </a:prstGeom>
        </p:spPr>
      </p:pic>
      <p:sp>
        <p:nvSpPr>
          <p:cNvPr id="1743163795" name="Rectangle 8"/>
          <p:cNvSpPr/>
          <p:nvPr/>
        </p:nvSpPr>
        <p:spPr bwMode="auto">
          <a:xfrm>
            <a:off x="10667998" y="1523998"/>
            <a:ext cx="6476998" cy="647699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6926725" name="Rectangle 9"/>
          <p:cNvSpPr/>
          <p:nvPr/>
        </p:nvSpPr>
        <p:spPr bwMode="auto">
          <a:xfrm rot="20879998">
            <a:off x="10604134" y="6782475"/>
            <a:ext cx="6548152" cy="45720"/>
          </a:xfrm>
          <a:prstGeom prst="rect">
            <a:avLst/>
          </a:prstGeom>
          <a:solidFill>
            <a:srgbClr val="A0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1691566" name="TextBox 10"/>
          <p:cNvSpPr txBox="1"/>
          <p:nvPr/>
        </p:nvSpPr>
        <p:spPr bwMode="auto">
          <a:xfrm>
            <a:off x="11048998" y="1904998"/>
            <a:ext cx="4572720" cy="329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spc="249">
                <a:solidFill>
                  <a:srgbClr val="A02834"/>
                </a:solidFill>
                <a:latin typeface="Courier New"/>
              </a:rPr>
              <a:t>LANEKI · FP</a:t>
            </a:r>
            <a:endParaRPr/>
          </a:p>
        </p:txBody>
      </p:sp>
      <p:sp>
        <p:nvSpPr>
          <p:cNvPr id="1352188579" name="TextBox 11"/>
          <p:cNvSpPr txBox="1"/>
          <p:nvPr/>
        </p:nvSpPr>
        <p:spPr bwMode="auto">
          <a:xfrm>
            <a:off x="11048998" y="2666998"/>
            <a:ext cx="6477718" cy="4755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0000"/>
              </a:lnSpc>
              <a:defRPr/>
            </a:pPr>
            <a:r>
              <a:rPr sz="39000" i="1">
                <a:solidFill>
                  <a:srgbClr val="F7F5F1"/>
                </a:solidFill>
                <a:latin typeface="Georgia"/>
              </a:rPr>
              <a:t>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094112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8823338" name="Rectangle 2"/>
          <p:cNvSpPr/>
          <p:nvPr/>
        </p:nvSpPr>
        <p:spPr bwMode="auto">
          <a:xfrm>
            <a:off x="952500" y="1047750"/>
            <a:ext cx="381000" cy="28575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482119" name="TextBox 3"/>
          <p:cNvSpPr txBox="1"/>
          <p:nvPr/>
        </p:nvSpPr>
        <p:spPr bwMode="auto">
          <a:xfrm>
            <a:off x="1466849" y="914400"/>
            <a:ext cx="571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AURKIBIDEA</a:t>
            </a:r>
            <a:endParaRPr/>
          </a:p>
        </p:txBody>
      </p:sp>
      <p:sp>
        <p:nvSpPr>
          <p:cNvPr id="1757441093" name="TextBox 4"/>
          <p:cNvSpPr txBox="1"/>
          <p:nvPr/>
        </p:nvSpPr>
        <p:spPr bwMode="auto">
          <a:xfrm>
            <a:off x="952500" y="1485900"/>
            <a:ext cx="16383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5400">
                <a:solidFill>
                  <a:srgbClr val="1A1A1A"/>
                </a:solidFill>
                <a:latin typeface="Georgia"/>
              </a:rPr>
              <a:t>Aurkezpenaren egitura</a:t>
            </a:r>
            <a:endParaRPr/>
          </a:p>
        </p:txBody>
      </p:sp>
      <p:cxnSp>
        <p:nvCxnSpPr>
          <p:cNvPr id="794606881" name="Connector 5"/>
          <p:cNvCxnSpPr/>
          <p:nvPr/>
        </p:nvCxnSpPr>
        <p:spPr bwMode="auto">
          <a:xfrm>
            <a:off x="952500" y="3619500"/>
            <a:ext cx="78105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9653887" name="TextBox 6"/>
          <p:cNvSpPr txBox="1"/>
          <p:nvPr/>
        </p:nvSpPr>
        <p:spPr bwMode="auto">
          <a:xfrm>
            <a:off x="952500" y="3829050"/>
            <a:ext cx="762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950" spc="77">
                <a:solidFill>
                  <a:srgbClr val="A02834"/>
                </a:solidFill>
                <a:latin typeface="Courier New"/>
              </a:rPr>
              <a:t>01</a:t>
            </a:r>
            <a:endParaRPr/>
          </a:p>
        </p:txBody>
      </p:sp>
      <p:sp>
        <p:nvSpPr>
          <p:cNvPr id="1875315554" name="TextBox 7"/>
          <p:cNvSpPr txBox="1"/>
          <p:nvPr/>
        </p:nvSpPr>
        <p:spPr bwMode="auto">
          <a:xfrm>
            <a:off x="1714500" y="3752850"/>
            <a:ext cx="689610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950">
                <a:solidFill>
                  <a:srgbClr val="1A1A1A"/>
                </a:solidFill>
                <a:latin typeface="Georgia"/>
              </a:rPr>
              <a:t>Testuingurua: ARAKAIN eta CNC makinak</a:t>
            </a:r>
            <a:endParaRPr/>
          </a:p>
        </p:txBody>
      </p:sp>
      <p:cxnSp>
        <p:nvCxnSpPr>
          <p:cNvPr id="1697528995" name="Connector 8"/>
          <p:cNvCxnSpPr/>
          <p:nvPr/>
        </p:nvCxnSpPr>
        <p:spPr bwMode="auto">
          <a:xfrm>
            <a:off x="952500" y="4572000"/>
            <a:ext cx="78105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7808359" name="TextBox 9"/>
          <p:cNvSpPr txBox="1"/>
          <p:nvPr/>
        </p:nvSpPr>
        <p:spPr bwMode="auto">
          <a:xfrm>
            <a:off x="952500" y="4781550"/>
            <a:ext cx="762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950" spc="77">
                <a:solidFill>
                  <a:srgbClr val="A02834"/>
                </a:solidFill>
                <a:latin typeface="Courier New"/>
              </a:rPr>
              <a:t>02</a:t>
            </a:r>
            <a:endParaRPr/>
          </a:p>
        </p:txBody>
      </p:sp>
      <p:sp>
        <p:nvSpPr>
          <p:cNvPr id="1479227417" name="TextBox 10"/>
          <p:cNvSpPr txBox="1"/>
          <p:nvPr/>
        </p:nvSpPr>
        <p:spPr bwMode="auto">
          <a:xfrm>
            <a:off x="1714500" y="4705350"/>
            <a:ext cx="689610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950">
                <a:solidFill>
                  <a:srgbClr val="1A1A1A"/>
                </a:solidFill>
                <a:latin typeface="Georgia"/>
              </a:rPr>
              <a:t>Arkitektura orokorra</a:t>
            </a:r>
            <a:endParaRPr/>
          </a:p>
        </p:txBody>
      </p:sp>
      <p:cxnSp>
        <p:nvCxnSpPr>
          <p:cNvPr id="1661030198" name="Connector 11"/>
          <p:cNvCxnSpPr/>
          <p:nvPr/>
        </p:nvCxnSpPr>
        <p:spPr bwMode="auto">
          <a:xfrm>
            <a:off x="952500" y="5524500"/>
            <a:ext cx="78105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908584" name="TextBox 12"/>
          <p:cNvSpPr txBox="1"/>
          <p:nvPr/>
        </p:nvSpPr>
        <p:spPr bwMode="auto">
          <a:xfrm>
            <a:off x="952500" y="5734050"/>
            <a:ext cx="762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950" spc="77">
                <a:solidFill>
                  <a:srgbClr val="A02834"/>
                </a:solidFill>
                <a:latin typeface="Courier New"/>
              </a:rPr>
              <a:t>03</a:t>
            </a:r>
            <a:endParaRPr/>
          </a:p>
        </p:txBody>
      </p:sp>
      <p:sp>
        <p:nvSpPr>
          <p:cNvPr id="905054289" name="TextBox 13"/>
          <p:cNvSpPr txBox="1"/>
          <p:nvPr/>
        </p:nvSpPr>
        <p:spPr bwMode="auto">
          <a:xfrm>
            <a:off x="1714500" y="5657850"/>
            <a:ext cx="689610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950">
                <a:solidFill>
                  <a:srgbClr val="1A1A1A"/>
                </a:solidFill>
                <a:latin typeface="Georgia"/>
              </a:rPr>
              <a:t>Dataset-a: AI4I 2020</a:t>
            </a:r>
            <a:endParaRPr/>
          </a:p>
        </p:txBody>
      </p:sp>
      <p:cxnSp>
        <p:nvCxnSpPr>
          <p:cNvPr id="1001315082" name="Connector 14"/>
          <p:cNvCxnSpPr/>
          <p:nvPr/>
        </p:nvCxnSpPr>
        <p:spPr bwMode="auto">
          <a:xfrm>
            <a:off x="952500" y="6477000"/>
            <a:ext cx="78105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932873" name="TextBox 15"/>
          <p:cNvSpPr txBox="1"/>
          <p:nvPr/>
        </p:nvSpPr>
        <p:spPr bwMode="auto">
          <a:xfrm>
            <a:off x="952500" y="6686550"/>
            <a:ext cx="762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950" spc="77">
                <a:solidFill>
                  <a:srgbClr val="A02834"/>
                </a:solidFill>
                <a:latin typeface="Courier New"/>
              </a:rPr>
              <a:t>04</a:t>
            </a:r>
            <a:endParaRPr/>
          </a:p>
        </p:txBody>
      </p:sp>
      <p:sp>
        <p:nvSpPr>
          <p:cNvPr id="144779333" name="TextBox 16"/>
          <p:cNvSpPr txBox="1"/>
          <p:nvPr/>
        </p:nvSpPr>
        <p:spPr bwMode="auto">
          <a:xfrm>
            <a:off x="1714500" y="6610350"/>
            <a:ext cx="689610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950">
                <a:solidFill>
                  <a:srgbClr val="1A1A1A"/>
                </a:solidFill>
                <a:latin typeface="Georgia"/>
              </a:rPr>
              <a:t>Starter Kit-a eta Docker zerbitzuak</a:t>
            </a:r>
            <a:endParaRPr/>
          </a:p>
        </p:txBody>
      </p:sp>
      <p:cxnSp>
        <p:nvCxnSpPr>
          <p:cNvPr id="313854808" name="Connector 17"/>
          <p:cNvCxnSpPr/>
          <p:nvPr/>
        </p:nvCxnSpPr>
        <p:spPr bwMode="auto">
          <a:xfrm>
            <a:off x="9525000" y="3619500"/>
            <a:ext cx="78105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4692486" name="TextBox 18"/>
          <p:cNvSpPr txBox="1"/>
          <p:nvPr/>
        </p:nvSpPr>
        <p:spPr bwMode="auto">
          <a:xfrm>
            <a:off x="9525000" y="3829050"/>
            <a:ext cx="762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950" spc="77">
                <a:solidFill>
                  <a:srgbClr val="A02834"/>
                </a:solidFill>
                <a:latin typeface="Courier New"/>
              </a:rPr>
              <a:t>05</a:t>
            </a:r>
            <a:endParaRPr/>
          </a:p>
        </p:txBody>
      </p:sp>
      <p:sp>
        <p:nvSpPr>
          <p:cNvPr id="391391437" name="TextBox 19"/>
          <p:cNvSpPr txBox="1"/>
          <p:nvPr/>
        </p:nvSpPr>
        <p:spPr bwMode="auto">
          <a:xfrm>
            <a:off x="10287000" y="3752850"/>
            <a:ext cx="689610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950">
                <a:solidFill>
                  <a:srgbClr val="1A1A1A"/>
                </a:solidFill>
                <a:latin typeface="Georgia"/>
              </a:rPr>
              <a:t>1. Fasea — Sentsore-datuak hartu eta gorde</a:t>
            </a:r>
            <a:endParaRPr/>
          </a:p>
        </p:txBody>
      </p:sp>
      <p:cxnSp>
        <p:nvCxnSpPr>
          <p:cNvPr id="129013269" name="Connector 20"/>
          <p:cNvCxnSpPr/>
          <p:nvPr/>
        </p:nvCxnSpPr>
        <p:spPr bwMode="auto">
          <a:xfrm>
            <a:off x="9525000" y="4572000"/>
            <a:ext cx="78105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608122" name="TextBox 21"/>
          <p:cNvSpPr txBox="1"/>
          <p:nvPr/>
        </p:nvSpPr>
        <p:spPr bwMode="auto">
          <a:xfrm>
            <a:off x="9525000" y="4781550"/>
            <a:ext cx="762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950" spc="77">
                <a:solidFill>
                  <a:srgbClr val="A02834"/>
                </a:solidFill>
                <a:latin typeface="Courier New"/>
              </a:rPr>
              <a:t>06</a:t>
            </a:r>
            <a:endParaRPr/>
          </a:p>
        </p:txBody>
      </p:sp>
      <p:sp>
        <p:nvSpPr>
          <p:cNvPr id="571605616" name="TextBox 22"/>
          <p:cNvSpPr txBox="1"/>
          <p:nvPr/>
        </p:nvSpPr>
        <p:spPr bwMode="auto">
          <a:xfrm>
            <a:off x="10287000" y="4705350"/>
            <a:ext cx="689610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950">
                <a:solidFill>
                  <a:srgbClr val="1A1A1A"/>
                </a:solidFill>
                <a:latin typeface="Georgia"/>
              </a:rPr>
              <a:t>2. Fasea — ML entrenamendua</a:t>
            </a:r>
            <a:endParaRPr/>
          </a:p>
        </p:txBody>
      </p:sp>
      <p:cxnSp>
        <p:nvCxnSpPr>
          <p:cNvPr id="1192025043" name="Connector 23"/>
          <p:cNvCxnSpPr/>
          <p:nvPr/>
        </p:nvCxnSpPr>
        <p:spPr bwMode="auto">
          <a:xfrm>
            <a:off x="9525000" y="5524500"/>
            <a:ext cx="78105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918223" name="TextBox 24"/>
          <p:cNvSpPr txBox="1"/>
          <p:nvPr/>
        </p:nvSpPr>
        <p:spPr bwMode="auto">
          <a:xfrm>
            <a:off x="9525000" y="5734050"/>
            <a:ext cx="762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950" spc="77">
                <a:solidFill>
                  <a:srgbClr val="A02834"/>
                </a:solidFill>
                <a:latin typeface="Courier New"/>
              </a:rPr>
              <a:t>07</a:t>
            </a:r>
            <a:endParaRPr/>
          </a:p>
        </p:txBody>
      </p:sp>
      <p:sp>
        <p:nvSpPr>
          <p:cNvPr id="317698590" name="TextBox 25"/>
          <p:cNvSpPr txBox="1"/>
          <p:nvPr/>
        </p:nvSpPr>
        <p:spPr bwMode="auto">
          <a:xfrm>
            <a:off x="10287000" y="5657850"/>
            <a:ext cx="689610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950">
                <a:solidFill>
                  <a:srgbClr val="1A1A1A"/>
                </a:solidFill>
                <a:latin typeface="Georgia"/>
              </a:rPr>
              <a:t>3. Fasea — Eredua ekoizpenera eraman</a:t>
            </a:r>
            <a:endParaRPr/>
          </a:p>
        </p:txBody>
      </p:sp>
      <p:cxnSp>
        <p:nvCxnSpPr>
          <p:cNvPr id="1373496568" name="Connector 26"/>
          <p:cNvCxnSpPr/>
          <p:nvPr/>
        </p:nvCxnSpPr>
        <p:spPr bwMode="auto">
          <a:xfrm>
            <a:off x="9525000" y="6477000"/>
            <a:ext cx="78105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4192020" name="TextBox 27"/>
          <p:cNvSpPr txBox="1"/>
          <p:nvPr/>
        </p:nvSpPr>
        <p:spPr bwMode="auto">
          <a:xfrm>
            <a:off x="9525000" y="6686550"/>
            <a:ext cx="762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950" spc="77">
                <a:solidFill>
                  <a:srgbClr val="A02834"/>
                </a:solidFill>
                <a:latin typeface="Courier New"/>
              </a:rPr>
              <a:t>08</a:t>
            </a:r>
            <a:endParaRPr/>
          </a:p>
        </p:txBody>
      </p:sp>
      <p:sp>
        <p:nvSpPr>
          <p:cNvPr id="234187607" name="TextBox 28"/>
          <p:cNvSpPr txBox="1"/>
          <p:nvPr/>
        </p:nvSpPr>
        <p:spPr bwMode="auto">
          <a:xfrm>
            <a:off x="10287000" y="6610350"/>
            <a:ext cx="689610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950">
                <a:solidFill>
                  <a:srgbClr val="1A1A1A"/>
                </a:solidFill>
                <a:latin typeface="Georgia"/>
              </a:rPr>
              <a:t>Ebaluazioa eta entregableak</a:t>
            </a:r>
            <a:endParaRPr/>
          </a:p>
        </p:txBody>
      </p:sp>
      <p:sp>
        <p:nvSpPr>
          <p:cNvPr id="305287350" name="Rectangle 29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281910918" name="Connector 30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9503691" name="TextBox 31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175914150" name="Picture 32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254221372" name="Picture 33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2101990087" name="Picture 34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1919729131" name="Picture 35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870669324" name="TextBox 36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02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962657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9112496" name="TextBox 2"/>
          <p:cNvSpPr txBox="1"/>
          <p:nvPr/>
        </p:nvSpPr>
        <p:spPr bwMode="auto">
          <a:xfrm>
            <a:off x="952500" y="914400"/>
            <a:ext cx="8572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ATALA · 00</a:t>
            </a:r>
            <a:endParaRPr/>
          </a:p>
        </p:txBody>
      </p:sp>
      <p:sp>
        <p:nvSpPr>
          <p:cNvPr id="1997772605" name="TextBox 3"/>
          <p:cNvSpPr txBox="1"/>
          <p:nvPr/>
        </p:nvSpPr>
        <p:spPr bwMode="auto">
          <a:xfrm>
            <a:off x="952500" y="3429000"/>
            <a:ext cx="3810000" cy="476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5000"/>
              </a:lnSpc>
              <a:defRPr/>
            </a:pPr>
            <a:r>
              <a:rPr sz="21000">
                <a:solidFill>
                  <a:srgbClr val="A02834"/>
                </a:solidFill>
                <a:latin typeface="Courier New"/>
              </a:rPr>
              <a:t>00</a:t>
            </a:r>
            <a:endParaRPr/>
          </a:p>
        </p:txBody>
      </p:sp>
      <p:sp>
        <p:nvSpPr>
          <p:cNvPr id="2061018702" name="TextBox 4"/>
          <p:cNvSpPr txBox="1"/>
          <p:nvPr/>
        </p:nvSpPr>
        <p:spPr bwMode="auto">
          <a:xfrm>
            <a:off x="4572000" y="4953000"/>
            <a:ext cx="13335000" cy="476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defRPr/>
            </a:pPr>
            <a:r>
              <a:rPr sz="8400">
                <a:solidFill>
                  <a:srgbClr val="F7F5F1"/>
                </a:solidFill>
                <a:latin typeface="Georgia"/>
              </a:rPr>
              <a:t>Testuingurua:</a:t>
            </a:r>
            <a:endParaRPr/>
          </a:p>
          <a:p>
            <a:pPr algn="l">
              <a:lnSpc>
                <a:spcPct val="102000"/>
              </a:lnSpc>
              <a:defRPr/>
            </a:pPr>
            <a:r>
              <a:rPr sz="8400">
                <a:solidFill>
                  <a:srgbClr val="F7F5F1"/>
                </a:solidFill>
                <a:latin typeface="Georgia"/>
              </a:rPr>
              <a:t>ARAKAIN Makineriak</a:t>
            </a:r>
            <a:endParaRPr/>
          </a:p>
        </p:txBody>
      </p:sp>
      <p:sp>
        <p:nvSpPr>
          <p:cNvPr id="1886200792" name="Rectangle 5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0F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36983034" name="Connector 6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2A2E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9593916" name="TextBox 7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888C92"/>
                </a:solidFill>
                <a:latin typeface="Courier New"/>
              </a:rPr>
              <a:t>IABD Espezializazioa · Erronka 1   ·   …</a:t>
            </a:r>
            <a:endParaRPr/>
          </a:p>
        </p:txBody>
      </p:sp>
      <p:pic>
        <p:nvPicPr>
          <p:cNvPr id="1661166447" name="Picture 8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1246629831" name="Picture 9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24792034" name="Picture 10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305589119" name="Picture 11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1363664011" name="TextBox 12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888C92"/>
                </a:solidFill>
                <a:latin typeface="Courier New"/>
              </a:rPr>
              <a:t>03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7331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3764325" name="TextBox 2"/>
          <p:cNvSpPr txBox="1"/>
          <p:nvPr/>
        </p:nvSpPr>
        <p:spPr bwMode="auto">
          <a:xfrm>
            <a:off x="952500" y="1219200"/>
            <a:ext cx="762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ARAZOA</a:t>
            </a:r>
            <a:endParaRPr/>
          </a:p>
        </p:txBody>
      </p:sp>
      <p:sp>
        <p:nvSpPr>
          <p:cNvPr id="1870312624" name="TextBox 3"/>
          <p:cNvSpPr txBox="1"/>
          <p:nvPr/>
        </p:nvSpPr>
        <p:spPr bwMode="auto">
          <a:xfrm>
            <a:off x="952500" y="3429000"/>
            <a:ext cx="8572500" cy="30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defRPr/>
            </a:pPr>
            <a:r>
              <a:rPr sz="21000">
                <a:solidFill>
                  <a:srgbClr val="A02834"/>
                </a:solidFill>
                <a:latin typeface="Georgia"/>
              </a:rPr>
              <a:t>1.200</a:t>
            </a:r>
            <a:r>
              <a:rPr sz="9000">
                <a:solidFill>
                  <a:srgbClr val="1A1A1A"/>
                </a:solidFill>
                <a:latin typeface="Georgia"/>
              </a:rPr>
              <a:t>€/ordu</a:t>
            </a:r>
            <a:endParaRPr/>
          </a:p>
        </p:txBody>
      </p:sp>
      <p:sp>
        <p:nvSpPr>
          <p:cNvPr id="424328592" name="TextBox 4"/>
          <p:cNvSpPr txBox="1"/>
          <p:nvPr/>
        </p:nvSpPr>
        <p:spPr bwMode="auto">
          <a:xfrm>
            <a:off x="952500" y="6667500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defRPr/>
            </a:pPr>
            <a:r>
              <a:rPr sz="2250">
                <a:solidFill>
                  <a:srgbClr val="3A3A3A"/>
                </a:solidFill>
                <a:latin typeface="Arial"/>
              </a:rPr>
              <a:t>makina geldi dagoen bakoitzean</a:t>
            </a:r>
            <a:endParaRPr/>
          </a:p>
        </p:txBody>
      </p:sp>
      <p:sp>
        <p:nvSpPr>
          <p:cNvPr id="498232943" name="TextBox 5"/>
          <p:cNvSpPr txBox="1"/>
          <p:nvPr/>
        </p:nvSpPr>
        <p:spPr bwMode="auto">
          <a:xfrm>
            <a:off x="10477500" y="4000500"/>
            <a:ext cx="685800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4200">
                <a:solidFill>
                  <a:srgbClr val="1A1A1A"/>
                </a:solidFill>
                <a:latin typeface="Georgia"/>
              </a:rPr>
              <a:t>Mantentze prediktiboaren beharra</a:t>
            </a:r>
            <a:endParaRPr/>
          </a:p>
        </p:txBody>
      </p:sp>
      <p:sp>
        <p:nvSpPr>
          <p:cNvPr id="341225661" name="TextBox 6"/>
          <p:cNvSpPr txBox="1"/>
          <p:nvPr/>
        </p:nvSpPr>
        <p:spPr bwMode="auto">
          <a:xfrm>
            <a:off x="10477500" y="5715000"/>
            <a:ext cx="6858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sz="2250">
                <a:solidFill>
                  <a:srgbClr val="3A3A3A"/>
                </a:solidFill>
                <a:latin typeface="Arial"/>
              </a:rPr>
              <a:t>50 CNC makina Bilboko fabrikan. Mantentze korrektiboa = hautsi arte itxaron, gero konpondu. Sentsoreek datuak etengabe sortzen dituzte: tenperatura, biraketa-abiadura, torkea, higadura... Datu horiekin hutsegiteak iragarri eta aurrea hartu dezakegu.</a:t>
            </a:r>
            <a:endParaRPr/>
          </a:p>
        </p:txBody>
      </p:sp>
      <p:sp>
        <p:nvSpPr>
          <p:cNvPr id="888105081" name="TextBox 7"/>
          <p:cNvSpPr txBox="1"/>
          <p:nvPr/>
        </p:nvSpPr>
        <p:spPr bwMode="auto">
          <a:xfrm>
            <a:off x="10477500" y="7810500"/>
            <a:ext cx="6858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>
                <a:solidFill>
                  <a:srgbClr val="6B6B6B"/>
                </a:solidFill>
                <a:latin typeface="Arial"/>
              </a:rPr>
              <a:t>ARAKAIN Makineriak · Bilbo</a:t>
            </a:r>
            <a:endParaRPr/>
          </a:p>
        </p:txBody>
      </p:sp>
      <p:sp>
        <p:nvSpPr>
          <p:cNvPr id="1432200011" name="Rectangle 8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269623472" name="Connector 9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6881883" name="TextBox 10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291223660" name="Picture 11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1298610732" name="Picture 12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474264043" name="Picture 13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1428032794" name="Picture 14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1962747908" name="TextBox 15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04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889778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37704554" name="Picture 2" descr="SistemaOsoa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918830"/>
            <a:ext cx="12954000" cy="7230139"/>
          </a:xfrm>
          <a:prstGeom prst="rect">
            <a:avLst/>
          </a:prstGeom>
        </p:spPr>
      </p:pic>
      <p:sp>
        <p:nvSpPr>
          <p:cNvPr id="1201538632" name="Rectangle 3"/>
          <p:cNvSpPr/>
          <p:nvPr/>
        </p:nvSpPr>
        <p:spPr bwMode="auto">
          <a:xfrm>
            <a:off x="12954000" y="0"/>
            <a:ext cx="5334000" cy="9067800"/>
          </a:xfrm>
          <a:prstGeom prst="rect">
            <a:avLst/>
          </a:prstGeom>
          <a:solidFill>
            <a:srgbClr val="F7F5F1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7804538" name="Rectangle 4"/>
          <p:cNvSpPr/>
          <p:nvPr/>
        </p:nvSpPr>
        <p:spPr bwMode="auto">
          <a:xfrm>
            <a:off x="13639800" y="1047750"/>
            <a:ext cx="381000" cy="28575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2424295" name="TextBox 5"/>
          <p:cNvSpPr txBox="1"/>
          <p:nvPr/>
        </p:nvSpPr>
        <p:spPr bwMode="auto">
          <a:xfrm>
            <a:off x="14154150" y="914400"/>
            <a:ext cx="571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ARKITEKTURA</a:t>
            </a:r>
            <a:endParaRPr/>
          </a:p>
        </p:txBody>
      </p:sp>
      <p:sp>
        <p:nvSpPr>
          <p:cNvPr id="2086204407" name="TextBox 6"/>
          <p:cNvSpPr txBox="1"/>
          <p:nvPr/>
        </p:nvSpPr>
        <p:spPr bwMode="auto">
          <a:xfrm>
            <a:off x="13639800" y="1485900"/>
            <a:ext cx="39624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3900">
                <a:solidFill>
                  <a:srgbClr val="1A1A1A"/>
                </a:solidFill>
                <a:latin typeface="Georgia"/>
              </a:rPr>
              <a:t>Sistema osoaren ikuspegia</a:t>
            </a:r>
            <a:endParaRPr/>
          </a:p>
        </p:txBody>
      </p:sp>
      <p:sp>
        <p:nvSpPr>
          <p:cNvPr id="847987966" name="TextBox 7"/>
          <p:cNvSpPr txBox="1"/>
          <p:nvPr/>
        </p:nvSpPr>
        <p:spPr bwMode="auto">
          <a:xfrm>
            <a:off x="13639800" y="3581400"/>
            <a:ext cx="3962400" cy="38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sz="1800">
                <a:solidFill>
                  <a:srgbClr val="3A3A3A"/>
                </a:solidFill>
                <a:latin typeface="Arial"/>
              </a:rPr>
              <a:t>Zerbitzari nagusian simuladoreak CSV fitxategiak sortzen ditu. Zuen VM-an Filebeat-ek irakurri eta Kafka-ra bidaltzen ditu. NiFi-k transformatu eta Elasticsearch-era indexatzen ditu. Kibana-n bistaratzen da. ML eredua scoring-api bidez eskaintzen da.</a:t>
            </a:r>
            <a:endParaRPr/>
          </a:p>
        </p:txBody>
      </p:sp>
      <p:sp>
        <p:nvSpPr>
          <p:cNvPr id="214779531" name="Rectangle 8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47636018" name="Connector 9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5037012" name="TextBox 10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29518525" name="Picture 11" descr="laneki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1903046089" name="Picture 12" descr="gobierno-vasco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1826239168" name="Picture 13" descr="fp-euskadi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78250304" name="Picture 14" descr="ehu-gipuzkoa.jp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863445565" name="TextBox 15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05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11476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6524843" name="Rectangle 2"/>
          <p:cNvSpPr/>
          <p:nvPr/>
        </p:nvSpPr>
        <p:spPr bwMode="auto">
          <a:xfrm>
            <a:off x="952500" y="1047750"/>
            <a:ext cx="381000" cy="28575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2757809" name="TextBox 3"/>
          <p:cNvSpPr txBox="1"/>
          <p:nvPr/>
        </p:nvSpPr>
        <p:spPr bwMode="auto">
          <a:xfrm>
            <a:off x="1466849" y="914400"/>
            <a:ext cx="571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DATUA</a:t>
            </a:r>
            <a:endParaRPr/>
          </a:p>
        </p:txBody>
      </p:sp>
      <p:sp>
        <p:nvSpPr>
          <p:cNvPr id="375010777" name="TextBox 4"/>
          <p:cNvSpPr txBox="1"/>
          <p:nvPr/>
        </p:nvSpPr>
        <p:spPr bwMode="auto">
          <a:xfrm>
            <a:off x="952500" y="1485900"/>
            <a:ext cx="16383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5400">
                <a:solidFill>
                  <a:srgbClr val="1A1A1A"/>
                </a:solidFill>
                <a:latin typeface="Georgia"/>
              </a:rPr>
              <a:t>Dataset-a: AI4I 2020 Predictive Maintenance</a:t>
            </a:r>
            <a:endParaRPr/>
          </a:p>
        </p:txBody>
      </p:sp>
      <p:sp>
        <p:nvSpPr>
          <p:cNvPr id="188433794" name="TextBox 5"/>
          <p:cNvSpPr txBox="1"/>
          <p:nvPr/>
        </p:nvSpPr>
        <p:spPr bwMode="auto">
          <a:xfrm>
            <a:off x="952500" y="3429000"/>
            <a:ext cx="7810500" cy="510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sz="2250" b="1">
                <a:solidFill>
                  <a:srgbClr val="1A1A1A"/>
                </a:solidFill>
                <a:latin typeface="Arial"/>
              </a:rPr>
              <a:t>UCI Machine Learning Repository</a:t>
            </a:r>
            <a:r>
              <a:rPr sz="2250">
                <a:solidFill>
                  <a:srgbClr val="3A3A3A"/>
                </a:solidFill>
                <a:latin typeface="Arial"/>
              </a:rPr>
              <a:t> — CC BY 4.0</a:t>
            </a:r>
            <a:endParaRPr/>
          </a:p>
          <a:p>
            <a:pPr algn="l">
              <a:lnSpc>
                <a:spcPct val="150000"/>
              </a:lnSpc>
              <a:spcBef>
                <a:spcPts val="1800"/>
              </a:spcBef>
              <a:defRPr/>
            </a:pPr>
            <a:r>
              <a:rPr sz="2250" b="1">
                <a:solidFill>
                  <a:srgbClr val="1A1A1A"/>
                </a:solidFill>
                <a:latin typeface="Arial"/>
              </a:rPr>
              <a:t>10.000 errenkada</a:t>
            </a:r>
            <a:r>
              <a:rPr sz="2250">
                <a:solidFill>
                  <a:srgbClr val="3A3A3A"/>
                </a:solidFill>
                <a:latin typeface="Arial"/>
              </a:rPr>
              <a:t> (8.000 entrenamendurako, 2.000 simuladorerako)</a:t>
            </a:r>
            <a:endParaRPr/>
          </a:p>
          <a:p>
            <a:pPr algn="l">
              <a:lnSpc>
                <a:spcPct val="150000"/>
              </a:lnSpc>
              <a:spcBef>
                <a:spcPts val="1800"/>
              </a:spcBef>
              <a:defRPr/>
            </a:pPr>
            <a:r>
              <a:rPr sz="2250" b="1">
                <a:solidFill>
                  <a:srgbClr val="1A1A1A"/>
                </a:solidFill>
                <a:latin typeface="Arial"/>
              </a:rPr>
              <a:t>14 zutabe</a:t>
            </a:r>
            <a:r>
              <a:rPr sz="2250">
                <a:solidFill>
                  <a:srgbClr val="3A3A3A"/>
                </a:solidFill>
                <a:latin typeface="Arial"/>
              </a:rPr>
              <a:t>: 5 sentsore + machine_id + mota + timestamp + helburua + azpimotak</a:t>
            </a:r>
            <a:endParaRPr/>
          </a:p>
          <a:p>
            <a:pPr algn="l">
              <a:lnSpc>
                <a:spcPct val="150000"/>
              </a:lnSpc>
              <a:spcBef>
                <a:spcPts val="1800"/>
              </a:spcBef>
              <a:defRPr/>
            </a:pPr>
            <a:r>
              <a:rPr sz="2250">
                <a:solidFill>
                  <a:srgbClr val="3A3A3A"/>
                </a:solidFill>
                <a:latin typeface="Arial"/>
              </a:rPr>
              <a:t>Sentsoreak: </a:t>
            </a:r>
            <a:r>
              <a:rPr sz="2250" b="1">
                <a:solidFill>
                  <a:srgbClr val="1A1A1A"/>
                </a:solidFill>
                <a:latin typeface="Arial"/>
              </a:rPr>
              <a:t>air_temp_K</a:t>
            </a:r>
            <a:r>
              <a:rPr sz="2250">
                <a:solidFill>
                  <a:srgbClr val="3A3A3A"/>
                </a:solidFill>
                <a:latin typeface="Arial"/>
              </a:rPr>
              <a:t>, </a:t>
            </a:r>
            <a:r>
              <a:rPr sz="2250" b="1">
                <a:solidFill>
                  <a:srgbClr val="1A1A1A"/>
                </a:solidFill>
                <a:latin typeface="Arial"/>
              </a:rPr>
              <a:t>process_temp_K</a:t>
            </a:r>
            <a:r>
              <a:rPr sz="2250">
                <a:solidFill>
                  <a:srgbClr val="3A3A3A"/>
                </a:solidFill>
                <a:latin typeface="Arial"/>
              </a:rPr>
              <a:t>, </a:t>
            </a:r>
            <a:r>
              <a:rPr sz="2250" b="1">
                <a:solidFill>
                  <a:srgbClr val="1A1A1A"/>
                </a:solidFill>
                <a:latin typeface="Arial"/>
              </a:rPr>
              <a:t>rpm</a:t>
            </a:r>
            <a:r>
              <a:rPr sz="2250">
                <a:solidFill>
                  <a:srgbClr val="3A3A3A"/>
                </a:solidFill>
                <a:latin typeface="Arial"/>
              </a:rPr>
              <a:t>, </a:t>
            </a:r>
            <a:r>
              <a:rPr sz="2250" b="1">
                <a:solidFill>
                  <a:srgbClr val="1A1A1A"/>
                </a:solidFill>
                <a:latin typeface="Arial"/>
              </a:rPr>
              <a:t>torque_Nm</a:t>
            </a:r>
            <a:r>
              <a:rPr sz="2250">
                <a:solidFill>
                  <a:srgbClr val="3A3A3A"/>
                </a:solidFill>
                <a:latin typeface="Arial"/>
              </a:rPr>
              <a:t>, </a:t>
            </a:r>
            <a:r>
              <a:rPr sz="2250" b="1">
                <a:solidFill>
                  <a:srgbClr val="1A1A1A"/>
                </a:solidFill>
                <a:latin typeface="Arial"/>
              </a:rPr>
              <a:t>tool_wear_min</a:t>
            </a:r>
            <a:endParaRPr/>
          </a:p>
          <a:p>
            <a:pPr algn="l">
              <a:lnSpc>
                <a:spcPct val="150000"/>
              </a:lnSpc>
              <a:spcBef>
                <a:spcPts val="1800"/>
              </a:spcBef>
              <a:defRPr/>
            </a:pPr>
            <a:r>
              <a:rPr sz="2250" b="1">
                <a:solidFill>
                  <a:srgbClr val="1A1A1A"/>
                </a:solidFill>
                <a:latin typeface="Arial"/>
              </a:rPr>
              <a:t>machine_type</a:t>
            </a:r>
            <a:r>
              <a:rPr sz="2250">
                <a:solidFill>
                  <a:srgbClr val="3A3A3A"/>
                </a:solidFill>
                <a:latin typeface="Arial"/>
              </a:rPr>
              <a:t>: H (heavy), M (medium), L (light) — 3 makina-mota</a:t>
            </a:r>
            <a:endParaRPr/>
          </a:p>
        </p:txBody>
      </p:sp>
      <p:sp>
        <p:nvSpPr>
          <p:cNvPr id="1636921395" name="TextBox 6"/>
          <p:cNvSpPr txBox="1"/>
          <p:nvPr/>
        </p:nvSpPr>
        <p:spPr bwMode="auto">
          <a:xfrm>
            <a:off x="9525000" y="3429000"/>
            <a:ext cx="7810500" cy="4558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sz="2250" b="1" dirty="0" err="1">
                <a:solidFill>
                  <a:srgbClr val="1A1A1A"/>
                </a:solidFill>
                <a:latin typeface="Arial"/>
              </a:rPr>
              <a:t>Kontuz</a:t>
            </a:r>
            <a:r>
              <a:rPr sz="2250" b="1" dirty="0">
                <a:solidFill>
                  <a:srgbClr val="1A1A1A"/>
                </a:solidFill>
                <a:latin typeface="Arial"/>
              </a:rPr>
              <a:t> </a:t>
            </a:r>
            <a:r>
              <a:rPr sz="2250" b="1" dirty="0" err="1" smtClean="0">
                <a:solidFill>
                  <a:srgbClr val="1A1A1A"/>
                </a:solidFill>
                <a:latin typeface="Arial"/>
              </a:rPr>
              <a:t>klase</a:t>
            </a:r>
            <a:r>
              <a:rPr sz="2250" b="1" dirty="0" smtClean="0">
                <a:solidFill>
                  <a:srgbClr val="1A1A1A"/>
                </a:solidFill>
                <a:latin typeface="Arial"/>
              </a:rPr>
              <a:t>-</a:t>
            </a:r>
            <a:r>
              <a:rPr lang="eu-ES" sz="2250" b="1" dirty="0" err="1" smtClean="0">
                <a:solidFill>
                  <a:srgbClr val="1A1A1A"/>
                </a:solidFill>
                <a:latin typeface="Arial"/>
              </a:rPr>
              <a:t>deso</a:t>
            </a:r>
            <a:r>
              <a:rPr sz="2250" b="1" dirty="0" err="1" smtClean="0">
                <a:solidFill>
                  <a:srgbClr val="1A1A1A"/>
                </a:solidFill>
                <a:latin typeface="Arial"/>
              </a:rPr>
              <a:t>rekarekin</a:t>
            </a:r>
            <a:r>
              <a:rPr sz="2250" b="1" dirty="0">
                <a:solidFill>
                  <a:srgbClr val="1A1A1A"/>
                </a:solidFill>
                <a:latin typeface="Arial"/>
              </a:rPr>
              <a:t>!</a:t>
            </a:r>
            <a:endParaRPr dirty="0"/>
          </a:p>
          <a:p>
            <a:pPr algn="l">
              <a:lnSpc>
                <a:spcPct val="150000"/>
              </a:lnSpc>
              <a:spcBef>
                <a:spcPts val="1800"/>
              </a:spcBef>
              <a:defRPr/>
            </a:pPr>
            <a:r>
              <a:rPr sz="2250" dirty="0" err="1">
                <a:solidFill>
                  <a:srgbClr val="3A3A3A"/>
                </a:solidFill>
                <a:latin typeface="Arial"/>
              </a:rPr>
              <a:t>Hutsegite-tasa</a:t>
            </a:r>
            <a:r>
              <a:rPr sz="2250" dirty="0">
                <a:solidFill>
                  <a:srgbClr val="3A3A3A"/>
                </a:solidFill>
                <a:latin typeface="Arial"/>
              </a:rPr>
              <a:t> </a:t>
            </a:r>
            <a:r>
              <a:rPr sz="2250" b="1" dirty="0">
                <a:solidFill>
                  <a:srgbClr val="1A1A1A"/>
                </a:solidFill>
                <a:latin typeface="Arial"/>
              </a:rPr>
              <a:t>%3,4 </a:t>
            </a:r>
            <a:r>
              <a:rPr sz="2250" b="1" dirty="0" err="1">
                <a:solidFill>
                  <a:srgbClr val="1A1A1A"/>
                </a:solidFill>
                <a:latin typeface="Arial"/>
              </a:rPr>
              <a:t>soilik</a:t>
            </a:r>
            <a:r>
              <a:rPr sz="2250" dirty="0">
                <a:solidFill>
                  <a:srgbClr val="3A3A3A"/>
                </a:solidFill>
                <a:latin typeface="Arial"/>
              </a:rPr>
              <a:t> da</a:t>
            </a:r>
            <a:endParaRPr dirty="0"/>
          </a:p>
          <a:p>
            <a:pPr algn="l">
              <a:lnSpc>
                <a:spcPct val="150000"/>
              </a:lnSpc>
              <a:spcBef>
                <a:spcPts val="1800"/>
              </a:spcBef>
              <a:defRPr/>
            </a:pPr>
            <a:r>
              <a:rPr sz="2250" dirty="0" err="1">
                <a:solidFill>
                  <a:srgbClr val="3A3A3A"/>
                </a:solidFill>
                <a:latin typeface="Arial"/>
              </a:rPr>
              <a:t>Eredu</a:t>
            </a:r>
            <a:r>
              <a:rPr sz="2250" dirty="0">
                <a:solidFill>
                  <a:srgbClr val="3A3A3A"/>
                </a:solidFill>
                <a:latin typeface="Arial"/>
              </a:rPr>
              <a:t> </a:t>
            </a:r>
            <a:r>
              <a:rPr sz="2250" dirty="0" err="1">
                <a:solidFill>
                  <a:srgbClr val="3A3A3A"/>
                </a:solidFill>
                <a:latin typeface="Arial"/>
              </a:rPr>
              <a:t>batek</a:t>
            </a:r>
            <a:r>
              <a:rPr sz="2250" dirty="0">
                <a:solidFill>
                  <a:srgbClr val="3A3A3A"/>
                </a:solidFill>
                <a:latin typeface="Arial"/>
              </a:rPr>
              <a:t> </a:t>
            </a:r>
            <a:r>
              <a:rPr sz="2250" dirty="0" err="1">
                <a:solidFill>
                  <a:srgbClr val="3A3A3A"/>
                </a:solidFill>
                <a:latin typeface="Arial"/>
              </a:rPr>
              <a:t>beti</a:t>
            </a:r>
            <a:r>
              <a:rPr sz="2250" dirty="0">
                <a:solidFill>
                  <a:srgbClr val="3A3A3A"/>
                </a:solidFill>
                <a:latin typeface="Arial"/>
              </a:rPr>
              <a:t> '</a:t>
            </a:r>
            <a:r>
              <a:rPr sz="2250" dirty="0" err="1">
                <a:solidFill>
                  <a:srgbClr val="3A3A3A"/>
                </a:solidFill>
                <a:latin typeface="Arial"/>
              </a:rPr>
              <a:t>ez</a:t>
            </a:r>
            <a:r>
              <a:rPr sz="2250" dirty="0">
                <a:solidFill>
                  <a:srgbClr val="3A3A3A"/>
                </a:solidFill>
                <a:latin typeface="Arial"/>
              </a:rPr>
              <a:t> da huts </a:t>
            </a:r>
            <a:r>
              <a:rPr sz="2250" dirty="0" err="1">
                <a:solidFill>
                  <a:srgbClr val="3A3A3A"/>
                </a:solidFill>
                <a:latin typeface="Arial"/>
              </a:rPr>
              <a:t>egingo</a:t>
            </a:r>
            <a:r>
              <a:rPr sz="2250" dirty="0">
                <a:solidFill>
                  <a:srgbClr val="3A3A3A"/>
                </a:solidFill>
                <a:latin typeface="Arial"/>
              </a:rPr>
              <a:t>' </a:t>
            </a:r>
            <a:r>
              <a:rPr sz="2250" dirty="0" err="1">
                <a:solidFill>
                  <a:srgbClr val="3A3A3A"/>
                </a:solidFill>
                <a:latin typeface="Arial"/>
              </a:rPr>
              <a:t>iragarrita</a:t>
            </a:r>
            <a:r>
              <a:rPr sz="2250" dirty="0">
                <a:solidFill>
                  <a:srgbClr val="3A3A3A"/>
                </a:solidFill>
                <a:latin typeface="Arial"/>
              </a:rPr>
              <a:t> → %96,6 accuracy</a:t>
            </a:r>
            <a:endParaRPr dirty="0"/>
          </a:p>
          <a:p>
            <a:pPr algn="l">
              <a:lnSpc>
                <a:spcPct val="150000"/>
              </a:lnSpc>
              <a:spcBef>
                <a:spcPts val="1800"/>
              </a:spcBef>
              <a:defRPr/>
            </a:pPr>
            <a:r>
              <a:rPr sz="2250" dirty="0" err="1">
                <a:solidFill>
                  <a:srgbClr val="3A3A3A"/>
                </a:solidFill>
                <a:latin typeface="Arial"/>
              </a:rPr>
              <a:t>Baina</a:t>
            </a:r>
            <a:r>
              <a:rPr sz="2250" dirty="0">
                <a:solidFill>
                  <a:srgbClr val="3A3A3A"/>
                </a:solidFill>
                <a:latin typeface="Arial"/>
              </a:rPr>
              <a:t> zero </a:t>
            </a:r>
            <a:r>
              <a:rPr sz="2250" dirty="0" err="1">
                <a:solidFill>
                  <a:srgbClr val="3A3A3A"/>
                </a:solidFill>
                <a:latin typeface="Arial"/>
              </a:rPr>
              <a:t>hutsegite</a:t>
            </a:r>
            <a:r>
              <a:rPr sz="2250" dirty="0">
                <a:solidFill>
                  <a:srgbClr val="3A3A3A"/>
                </a:solidFill>
                <a:latin typeface="Arial"/>
              </a:rPr>
              <a:t> </a:t>
            </a:r>
            <a:r>
              <a:rPr sz="2250" dirty="0" err="1">
                <a:solidFill>
                  <a:srgbClr val="3A3A3A"/>
                </a:solidFill>
                <a:latin typeface="Arial"/>
              </a:rPr>
              <a:t>detektatuko</a:t>
            </a:r>
            <a:r>
              <a:rPr sz="2250" dirty="0">
                <a:solidFill>
                  <a:srgbClr val="3A3A3A"/>
                </a:solidFill>
                <a:latin typeface="Arial"/>
              </a:rPr>
              <a:t> </a:t>
            </a:r>
            <a:r>
              <a:rPr sz="2250" dirty="0" err="1">
                <a:solidFill>
                  <a:srgbClr val="3A3A3A"/>
                </a:solidFill>
                <a:latin typeface="Arial"/>
              </a:rPr>
              <a:t>lituzke</a:t>
            </a:r>
            <a:r>
              <a:rPr sz="2250" dirty="0">
                <a:solidFill>
                  <a:srgbClr val="3A3A3A"/>
                </a:solidFill>
                <a:latin typeface="Arial"/>
              </a:rPr>
              <a:t> — </a:t>
            </a:r>
            <a:r>
              <a:rPr sz="2250" dirty="0" err="1">
                <a:solidFill>
                  <a:srgbClr val="3A3A3A"/>
                </a:solidFill>
                <a:latin typeface="Arial"/>
              </a:rPr>
              <a:t>alferrikakoa</a:t>
            </a:r>
            <a:r>
              <a:rPr sz="2250" dirty="0">
                <a:solidFill>
                  <a:srgbClr val="3A3A3A"/>
                </a:solidFill>
                <a:latin typeface="Arial"/>
              </a:rPr>
              <a:t>!</a:t>
            </a:r>
            <a:endParaRPr dirty="0"/>
          </a:p>
          <a:p>
            <a:pPr algn="l">
              <a:lnSpc>
                <a:spcPct val="150000"/>
              </a:lnSpc>
              <a:spcBef>
                <a:spcPts val="1800"/>
              </a:spcBef>
              <a:defRPr/>
            </a:pPr>
            <a:r>
              <a:rPr sz="2250" b="1" dirty="0">
                <a:solidFill>
                  <a:srgbClr val="1A1A1A"/>
                </a:solidFill>
                <a:latin typeface="Arial"/>
              </a:rPr>
              <a:t>Recall &gt; Precision</a:t>
            </a:r>
            <a:r>
              <a:rPr sz="2250" dirty="0">
                <a:solidFill>
                  <a:srgbClr val="3A3A3A"/>
                </a:solidFill>
                <a:latin typeface="Arial"/>
              </a:rPr>
              <a:t>: </a:t>
            </a:r>
            <a:r>
              <a:rPr sz="2250" dirty="0" err="1">
                <a:solidFill>
                  <a:srgbClr val="3A3A3A"/>
                </a:solidFill>
                <a:latin typeface="Arial"/>
              </a:rPr>
              <a:t>hobe</a:t>
            </a:r>
            <a:r>
              <a:rPr sz="2250" dirty="0">
                <a:solidFill>
                  <a:srgbClr val="3A3A3A"/>
                </a:solidFill>
                <a:latin typeface="Arial"/>
              </a:rPr>
              <a:t> da </a:t>
            </a:r>
            <a:r>
              <a:rPr sz="2250" dirty="0" err="1">
                <a:solidFill>
                  <a:srgbClr val="3A3A3A"/>
                </a:solidFill>
                <a:latin typeface="Arial"/>
              </a:rPr>
              <a:t>alarma</a:t>
            </a:r>
            <a:r>
              <a:rPr sz="2250" dirty="0">
                <a:solidFill>
                  <a:srgbClr val="3A3A3A"/>
                </a:solidFill>
                <a:latin typeface="Arial"/>
              </a:rPr>
              <a:t> </a:t>
            </a:r>
            <a:r>
              <a:rPr sz="2250" dirty="0" err="1">
                <a:solidFill>
                  <a:srgbClr val="3A3A3A"/>
                </a:solidFill>
                <a:latin typeface="Arial"/>
              </a:rPr>
              <a:t>faltsu</a:t>
            </a:r>
            <a:r>
              <a:rPr sz="2250" dirty="0">
                <a:solidFill>
                  <a:srgbClr val="3A3A3A"/>
                </a:solidFill>
                <a:latin typeface="Arial"/>
              </a:rPr>
              <a:t> bat </a:t>
            </a:r>
            <a:r>
              <a:rPr sz="2250" dirty="0" err="1">
                <a:solidFill>
                  <a:srgbClr val="3A3A3A"/>
                </a:solidFill>
                <a:latin typeface="Arial"/>
              </a:rPr>
              <a:t>benetako</a:t>
            </a:r>
            <a:r>
              <a:rPr sz="2250" dirty="0">
                <a:solidFill>
                  <a:srgbClr val="3A3A3A"/>
                </a:solidFill>
                <a:latin typeface="Arial"/>
              </a:rPr>
              <a:t> </a:t>
            </a:r>
            <a:r>
              <a:rPr sz="2250" dirty="0" err="1">
                <a:solidFill>
                  <a:srgbClr val="3A3A3A"/>
                </a:solidFill>
                <a:latin typeface="Arial"/>
              </a:rPr>
              <a:t>hutsegite</a:t>
            </a:r>
            <a:r>
              <a:rPr sz="2250" dirty="0">
                <a:solidFill>
                  <a:srgbClr val="3A3A3A"/>
                </a:solidFill>
                <a:latin typeface="Arial"/>
              </a:rPr>
              <a:t> bat </a:t>
            </a:r>
            <a:r>
              <a:rPr sz="2250" dirty="0" err="1">
                <a:solidFill>
                  <a:srgbClr val="3A3A3A"/>
                </a:solidFill>
                <a:latin typeface="Arial"/>
              </a:rPr>
              <a:t>galtzea</a:t>
            </a:r>
            <a:r>
              <a:rPr sz="2250" dirty="0">
                <a:solidFill>
                  <a:srgbClr val="3A3A3A"/>
                </a:solidFill>
                <a:latin typeface="Arial"/>
              </a:rPr>
              <a:t> </a:t>
            </a:r>
            <a:r>
              <a:rPr sz="2250" dirty="0" err="1">
                <a:solidFill>
                  <a:srgbClr val="3A3A3A"/>
                </a:solidFill>
                <a:latin typeface="Arial"/>
              </a:rPr>
              <a:t>baino</a:t>
            </a:r>
            <a:endParaRPr dirty="0"/>
          </a:p>
        </p:txBody>
      </p:sp>
      <p:sp>
        <p:nvSpPr>
          <p:cNvPr id="2035135941" name="Rectangle 7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068887231" name="Connector 8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7519980" name="TextBox 9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1381659634" name="Picture 10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1222157419" name="Picture 11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1130448035" name="Picture 12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1772726839" name="Picture 13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2130920985" name="TextBox 14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06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010240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6686794" name="Rectangle 2"/>
          <p:cNvSpPr/>
          <p:nvPr/>
        </p:nvSpPr>
        <p:spPr bwMode="auto">
          <a:xfrm>
            <a:off x="952500" y="1047750"/>
            <a:ext cx="381000" cy="28575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9515420" name="TextBox 3"/>
          <p:cNvSpPr txBox="1"/>
          <p:nvPr/>
        </p:nvSpPr>
        <p:spPr bwMode="auto">
          <a:xfrm>
            <a:off x="1466849" y="914400"/>
            <a:ext cx="571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ABIAPUNTUA</a:t>
            </a:r>
            <a:endParaRPr/>
          </a:p>
        </p:txBody>
      </p:sp>
      <p:sp>
        <p:nvSpPr>
          <p:cNvPr id="1125739782" name="TextBox 4"/>
          <p:cNvSpPr txBox="1"/>
          <p:nvPr/>
        </p:nvSpPr>
        <p:spPr bwMode="auto">
          <a:xfrm>
            <a:off x="952500" y="1485900"/>
            <a:ext cx="16383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5400">
                <a:solidFill>
                  <a:srgbClr val="1A1A1A"/>
                </a:solidFill>
                <a:latin typeface="Georgia"/>
              </a:rPr>
              <a:t>Starter Kit-a: Docker ingurunea</a:t>
            </a:r>
            <a:endParaRPr/>
          </a:p>
        </p:txBody>
      </p:sp>
      <p:sp>
        <p:nvSpPr>
          <p:cNvPr id="1727467678" name="TextBox 5"/>
          <p:cNvSpPr txBox="1"/>
          <p:nvPr/>
        </p:nvSpPr>
        <p:spPr bwMode="auto">
          <a:xfrm>
            <a:off x="952500" y="3429000"/>
            <a:ext cx="7810500" cy="506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19100" indent="-342900" algn="l">
              <a:lnSpc>
                <a:spcPct val="128000"/>
              </a:lnSpc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Filebeat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CSV fitxategiak irakurri eta Kafka-ra bidali (konfiguratu behar duzu)</a:t>
            </a:r>
            <a:endParaRPr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Apache Kafka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Mezu-ilara buffer gisa (KRaft mode, Zookeeper gabe)</a:t>
            </a:r>
            <a:endParaRPr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Apache NiFi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Datuen transformazioa: CSV → JSON (flow-a osatu behar duzu)</a:t>
            </a:r>
            <a:endParaRPr/>
          </a:p>
        </p:txBody>
      </p:sp>
      <p:sp>
        <p:nvSpPr>
          <p:cNvPr id="1312145978" name="TextBox 6"/>
          <p:cNvSpPr txBox="1"/>
          <p:nvPr/>
        </p:nvSpPr>
        <p:spPr bwMode="auto">
          <a:xfrm>
            <a:off x="9525000" y="3429000"/>
            <a:ext cx="7810500" cy="506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19100" indent="-342900" algn="l">
              <a:lnSpc>
                <a:spcPct val="135000"/>
              </a:lnSpc>
              <a:buClr>
                <a:srgbClr val="A02834"/>
              </a:buClr>
              <a:buFont typeface="Arial"/>
              <a:buChar char="■"/>
              <a:defRPr/>
            </a:pPr>
            <a:r>
              <a:rPr sz="2250" b="1">
                <a:solidFill>
                  <a:srgbClr val="1A1A1A"/>
                </a:solidFill>
                <a:latin typeface="Arial"/>
              </a:rPr>
              <a:t>Elasticsearch</a:t>
            </a:r>
            <a:r>
              <a:rPr sz="2250">
                <a:solidFill>
                  <a:srgbClr val="3A3A3A"/>
                </a:solidFill>
                <a:latin typeface="Arial"/>
              </a:rPr>
              <a:t> — </a:t>
            </a:r>
            <a:r>
              <a:rPr sz="2100">
                <a:solidFill>
                  <a:srgbClr val="3A3A3A"/>
                </a:solidFill>
                <a:latin typeface="Arial"/>
              </a:rPr>
              <a:t>Biltegiratzea eta bilaketa (cnc-sensors indizea)</a:t>
            </a:r>
            <a:endParaRPr/>
          </a:p>
          <a:p>
            <a:pPr marL="419100" indent="-342900" algn="l">
              <a:lnSpc>
                <a:spcPct val="135000"/>
              </a:lnSpc>
              <a:spcBef>
                <a:spcPts val="18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2250" b="1">
                <a:solidFill>
                  <a:srgbClr val="1A1A1A"/>
                </a:solidFill>
                <a:latin typeface="Arial"/>
              </a:rPr>
              <a:t>Kibana</a:t>
            </a:r>
            <a:r>
              <a:rPr sz="2250">
                <a:solidFill>
                  <a:srgbClr val="3A3A3A"/>
                </a:solidFill>
                <a:latin typeface="Arial"/>
              </a:rPr>
              <a:t> — </a:t>
            </a:r>
            <a:r>
              <a:rPr sz="2100">
                <a:solidFill>
                  <a:srgbClr val="3A3A3A"/>
                </a:solidFill>
                <a:latin typeface="Arial"/>
              </a:rPr>
              <a:t>Dashboard-ak eta bistaratzeak sortzeko</a:t>
            </a:r>
            <a:endParaRPr/>
          </a:p>
          <a:p>
            <a:pPr marL="419100" indent="-342900" algn="l">
              <a:lnSpc>
                <a:spcPct val="135000"/>
              </a:lnSpc>
              <a:spcBef>
                <a:spcPts val="18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2250" b="1">
                <a:solidFill>
                  <a:srgbClr val="1A1A1A"/>
                </a:solidFill>
                <a:latin typeface="Arial"/>
              </a:rPr>
              <a:t>scoring-api</a:t>
            </a:r>
            <a:r>
              <a:rPr sz="2250">
                <a:solidFill>
                  <a:srgbClr val="3A3A3A"/>
                </a:solidFill>
                <a:latin typeface="Arial"/>
              </a:rPr>
              <a:t> — </a:t>
            </a:r>
            <a:r>
              <a:rPr sz="2100">
                <a:solidFill>
                  <a:srgbClr val="3A3A3A"/>
                </a:solidFill>
                <a:latin typeface="Arial"/>
              </a:rPr>
              <a:t>ML inferentzia (FastAPI, 3. fasean erabiliko duzue)</a:t>
            </a:r>
            <a:endParaRPr/>
          </a:p>
        </p:txBody>
      </p:sp>
      <p:sp>
        <p:nvSpPr>
          <p:cNvPr id="479692229" name="Rectangle 7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20961355" name="Connector 8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53332" name="TextBox 9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460079304" name="Picture 10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1353393215" name="Picture 11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709533145" name="Picture 12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801686831" name="Picture 13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65749959" name="TextBox 14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07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052919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0778831" name="Rectangle 2"/>
          <p:cNvSpPr/>
          <p:nvPr/>
        </p:nvSpPr>
        <p:spPr bwMode="auto">
          <a:xfrm>
            <a:off x="952500" y="1047750"/>
            <a:ext cx="381000" cy="28575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4570434" name="TextBox 3"/>
          <p:cNvSpPr txBox="1"/>
          <p:nvPr/>
        </p:nvSpPr>
        <p:spPr bwMode="auto">
          <a:xfrm>
            <a:off x="1466849" y="914400"/>
            <a:ext cx="571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ERREFERENTZIA</a:t>
            </a:r>
            <a:endParaRPr/>
          </a:p>
        </p:txBody>
      </p:sp>
      <p:sp>
        <p:nvSpPr>
          <p:cNvPr id="1957921319" name="TextBox 4"/>
          <p:cNvSpPr txBox="1"/>
          <p:nvPr/>
        </p:nvSpPr>
        <p:spPr bwMode="auto">
          <a:xfrm>
            <a:off x="952500" y="1485900"/>
            <a:ext cx="16383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5400">
                <a:solidFill>
                  <a:srgbClr val="1A1A1A"/>
                </a:solidFill>
                <a:latin typeface="Georgia"/>
              </a:rPr>
              <a:t>Docker zerbitzuak — sarbideak</a:t>
            </a:r>
            <a:endParaRPr/>
          </a:p>
        </p:txBody>
      </p:sp>
      <p:sp>
        <p:nvSpPr>
          <p:cNvPr id="2143812648" name="TextBox 5"/>
          <p:cNvSpPr txBox="1"/>
          <p:nvPr/>
        </p:nvSpPr>
        <p:spPr bwMode="auto">
          <a:xfrm>
            <a:off x="1181099" y="3790949"/>
            <a:ext cx="337566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144">
                <a:solidFill>
                  <a:srgbClr val="6B6B6B"/>
                </a:solidFill>
                <a:latin typeface="Arial"/>
              </a:rPr>
              <a:t>ZERBITZUA</a:t>
            </a:r>
            <a:endParaRPr/>
          </a:p>
        </p:txBody>
      </p:sp>
      <p:sp>
        <p:nvSpPr>
          <p:cNvPr id="246395617" name="TextBox 6"/>
          <p:cNvSpPr txBox="1"/>
          <p:nvPr/>
        </p:nvSpPr>
        <p:spPr bwMode="auto">
          <a:xfrm>
            <a:off x="4785360" y="3790949"/>
            <a:ext cx="4686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144">
                <a:solidFill>
                  <a:srgbClr val="6B6B6B"/>
                </a:solidFill>
                <a:latin typeface="Arial"/>
              </a:rPr>
              <a:t>URLA</a:t>
            </a:r>
            <a:endParaRPr/>
          </a:p>
        </p:txBody>
      </p:sp>
      <p:sp>
        <p:nvSpPr>
          <p:cNvPr id="1850841611" name="TextBox 7"/>
          <p:cNvSpPr txBox="1"/>
          <p:nvPr/>
        </p:nvSpPr>
        <p:spPr bwMode="auto">
          <a:xfrm>
            <a:off x="9700260" y="3790949"/>
            <a:ext cx="272034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144">
                <a:solidFill>
                  <a:srgbClr val="6B6B6B"/>
                </a:solidFill>
                <a:latin typeface="Arial"/>
              </a:rPr>
              <a:t>ERABILTZAILEA</a:t>
            </a:r>
            <a:endParaRPr/>
          </a:p>
        </p:txBody>
      </p:sp>
      <p:sp>
        <p:nvSpPr>
          <p:cNvPr id="1369912463" name="TextBox 8"/>
          <p:cNvSpPr txBox="1"/>
          <p:nvPr/>
        </p:nvSpPr>
        <p:spPr bwMode="auto">
          <a:xfrm>
            <a:off x="12649200" y="3790949"/>
            <a:ext cx="4686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144">
                <a:solidFill>
                  <a:srgbClr val="6B6B6B"/>
                </a:solidFill>
                <a:latin typeface="Arial"/>
              </a:rPr>
              <a:t>OHARRA</a:t>
            </a:r>
            <a:endParaRPr/>
          </a:p>
        </p:txBody>
      </p:sp>
      <p:cxnSp>
        <p:nvCxnSpPr>
          <p:cNvPr id="275206405" name="Connector 9"/>
          <p:cNvCxnSpPr/>
          <p:nvPr/>
        </p:nvCxnSpPr>
        <p:spPr bwMode="auto">
          <a:xfrm>
            <a:off x="952500" y="4229100"/>
            <a:ext cx="16383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6053913" name="TextBox 10"/>
          <p:cNvSpPr txBox="1"/>
          <p:nvPr/>
        </p:nvSpPr>
        <p:spPr bwMode="auto">
          <a:xfrm>
            <a:off x="1181099" y="4381500"/>
            <a:ext cx="314706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NiFi</a:t>
            </a:r>
            <a:endParaRPr/>
          </a:p>
        </p:txBody>
      </p:sp>
      <p:sp>
        <p:nvSpPr>
          <p:cNvPr id="1811691258" name="TextBox 11"/>
          <p:cNvSpPr txBox="1"/>
          <p:nvPr/>
        </p:nvSpPr>
        <p:spPr bwMode="auto">
          <a:xfrm>
            <a:off x="4785360" y="4381500"/>
            <a:ext cx="44577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>
                <a:solidFill>
                  <a:srgbClr val="3A3A3A"/>
                </a:solidFill>
                <a:latin typeface="Arial"/>
              </a:rPr>
              <a:t>https://localhost:8443/nifi</a:t>
            </a:r>
            <a:endParaRPr/>
          </a:p>
        </p:txBody>
      </p:sp>
      <p:sp>
        <p:nvSpPr>
          <p:cNvPr id="1839410639" name="TextBox 12"/>
          <p:cNvSpPr txBox="1"/>
          <p:nvPr/>
        </p:nvSpPr>
        <p:spPr bwMode="auto">
          <a:xfrm>
            <a:off x="9700260" y="4381500"/>
            <a:ext cx="249174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>
                <a:solidFill>
                  <a:srgbClr val="3A3A3A"/>
                </a:solidFill>
                <a:latin typeface="Arial"/>
              </a:rPr>
              <a:t>admin</a:t>
            </a:r>
            <a:endParaRPr/>
          </a:p>
        </p:txBody>
      </p:sp>
      <p:sp>
        <p:nvSpPr>
          <p:cNvPr id="826002500" name="TextBox 13"/>
          <p:cNvSpPr txBox="1"/>
          <p:nvPr/>
        </p:nvSpPr>
        <p:spPr bwMode="auto">
          <a:xfrm>
            <a:off x="12649200" y="4381500"/>
            <a:ext cx="44577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>
                <a:solidFill>
                  <a:srgbClr val="3A3A3A"/>
                </a:solidFill>
                <a:latin typeface="Arial"/>
              </a:rPr>
              <a:t>adminpassword123</a:t>
            </a:r>
            <a:endParaRPr/>
          </a:p>
        </p:txBody>
      </p:sp>
      <p:cxnSp>
        <p:nvCxnSpPr>
          <p:cNvPr id="183673075" name="Connector 14"/>
          <p:cNvCxnSpPr/>
          <p:nvPr/>
        </p:nvCxnSpPr>
        <p:spPr bwMode="auto">
          <a:xfrm>
            <a:off x="952500" y="5143500"/>
            <a:ext cx="16383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4856046" name="TextBox 15"/>
          <p:cNvSpPr txBox="1"/>
          <p:nvPr/>
        </p:nvSpPr>
        <p:spPr bwMode="auto">
          <a:xfrm>
            <a:off x="1181099" y="5295899"/>
            <a:ext cx="314706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Elasticsearch</a:t>
            </a:r>
            <a:endParaRPr/>
          </a:p>
        </p:txBody>
      </p:sp>
      <p:sp>
        <p:nvSpPr>
          <p:cNvPr id="661494886" name="TextBox 16"/>
          <p:cNvSpPr txBox="1"/>
          <p:nvPr/>
        </p:nvSpPr>
        <p:spPr bwMode="auto">
          <a:xfrm>
            <a:off x="4785360" y="5295899"/>
            <a:ext cx="44577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>
                <a:solidFill>
                  <a:srgbClr val="3A3A3A"/>
                </a:solidFill>
                <a:latin typeface="Arial"/>
              </a:rPr>
              <a:t>http://localhost:9200</a:t>
            </a:r>
            <a:endParaRPr/>
          </a:p>
        </p:txBody>
      </p:sp>
      <p:sp>
        <p:nvSpPr>
          <p:cNvPr id="1491282909" name="TextBox 17"/>
          <p:cNvSpPr txBox="1"/>
          <p:nvPr/>
        </p:nvSpPr>
        <p:spPr bwMode="auto">
          <a:xfrm>
            <a:off x="9700260" y="5295899"/>
            <a:ext cx="249174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>
                <a:solidFill>
                  <a:srgbClr val="3A3A3A"/>
                </a:solidFill>
                <a:latin typeface="Arial"/>
              </a:rPr>
              <a:t>—</a:t>
            </a:r>
            <a:endParaRPr/>
          </a:p>
        </p:txBody>
      </p:sp>
      <p:sp>
        <p:nvSpPr>
          <p:cNvPr id="989587676" name="TextBox 18"/>
          <p:cNvSpPr txBox="1"/>
          <p:nvPr/>
        </p:nvSpPr>
        <p:spPr bwMode="auto">
          <a:xfrm>
            <a:off x="12649200" y="5295899"/>
            <a:ext cx="44577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>
                <a:solidFill>
                  <a:srgbClr val="3A3A3A"/>
                </a:solidFill>
                <a:latin typeface="Arial"/>
              </a:rPr>
              <a:t>xpack.security disabled</a:t>
            </a:r>
            <a:endParaRPr/>
          </a:p>
        </p:txBody>
      </p:sp>
      <p:cxnSp>
        <p:nvCxnSpPr>
          <p:cNvPr id="837768040" name="Connector 19"/>
          <p:cNvCxnSpPr/>
          <p:nvPr/>
        </p:nvCxnSpPr>
        <p:spPr bwMode="auto">
          <a:xfrm>
            <a:off x="952500" y="6057900"/>
            <a:ext cx="16383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611161" name="TextBox 20"/>
          <p:cNvSpPr txBox="1"/>
          <p:nvPr/>
        </p:nvSpPr>
        <p:spPr bwMode="auto">
          <a:xfrm>
            <a:off x="1181099" y="6210300"/>
            <a:ext cx="314706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Kibana</a:t>
            </a:r>
            <a:endParaRPr/>
          </a:p>
        </p:txBody>
      </p:sp>
      <p:sp>
        <p:nvSpPr>
          <p:cNvPr id="457495608" name="TextBox 21"/>
          <p:cNvSpPr txBox="1"/>
          <p:nvPr/>
        </p:nvSpPr>
        <p:spPr bwMode="auto">
          <a:xfrm>
            <a:off x="4785360" y="6210300"/>
            <a:ext cx="44577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>
                <a:solidFill>
                  <a:srgbClr val="3A3A3A"/>
                </a:solidFill>
                <a:latin typeface="Arial"/>
              </a:rPr>
              <a:t>http://localhost:5601</a:t>
            </a:r>
            <a:endParaRPr/>
          </a:p>
        </p:txBody>
      </p:sp>
      <p:sp>
        <p:nvSpPr>
          <p:cNvPr id="1247969179" name="TextBox 22"/>
          <p:cNvSpPr txBox="1"/>
          <p:nvPr/>
        </p:nvSpPr>
        <p:spPr bwMode="auto">
          <a:xfrm>
            <a:off x="9700260" y="6210300"/>
            <a:ext cx="249174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>
                <a:solidFill>
                  <a:srgbClr val="3A3A3A"/>
                </a:solidFill>
                <a:latin typeface="Arial"/>
              </a:rPr>
              <a:t>—</a:t>
            </a:r>
            <a:endParaRPr/>
          </a:p>
        </p:txBody>
      </p:sp>
      <p:sp>
        <p:nvSpPr>
          <p:cNvPr id="855479267" name="TextBox 23"/>
          <p:cNvSpPr txBox="1"/>
          <p:nvPr/>
        </p:nvSpPr>
        <p:spPr bwMode="auto">
          <a:xfrm>
            <a:off x="12649200" y="6210300"/>
            <a:ext cx="44577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>
                <a:solidFill>
                  <a:srgbClr val="3A3A3A"/>
                </a:solidFill>
                <a:latin typeface="Arial"/>
              </a:rPr>
              <a:t>Dashboard-ak sortzeko</a:t>
            </a:r>
            <a:endParaRPr/>
          </a:p>
        </p:txBody>
      </p:sp>
      <p:cxnSp>
        <p:nvCxnSpPr>
          <p:cNvPr id="1071861820" name="Connector 24"/>
          <p:cNvCxnSpPr/>
          <p:nvPr/>
        </p:nvCxnSpPr>
        <p:spPr bwMode="auto">
          <a:xfrm>
            <a:off x="952500" y="6972300"/>
            <a:ext cx="16383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05910" name="TextBox 25"/>
          <p:cNvSpPr txBox="1"/>
          <p:nvPr/>
        </p:nvSpPr>
        <p:spPr bwMode="auto">
          <a:xfrm>
            <a:off x="1181099" y="7124700"/>
            <a:ext cx="314706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scoring-api</a:t>
            </a:r>
            <a:endParaRPr/>
          </a:p>
        </p:txBody>
      </p:sp>
      <p:sp>
        <p:nvSpPr>
          <p:cNvPr id="1876118041" name="TextBox 26"/>
          <p:cNvSpPr txBox="1"/>
          <p:nvPr/>
        </p:nvSpPr>
        <p:spPr bwMode="auto">
          <a:xfrm>
            <a:off x="4785360" y="7124700"/>
            <a:ext cx="44577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>
                <a:solidFill>
                  <a:srgbClr val="3A3A3A"/>
                </a:solidFill>
                <a:latin typeface="Arial"/>
              </a:rPr>
              <a:t>http://localhost:8000/docs</a:t>
            </a:r>
            <a:endParaRPr/>
          </a:p>
        </p:txBody>
      </p:sp>
      <p:sp>
        <p:nvSpPr>
          <p:cNvPr id="391491596" name="TextBox 27"/>
          <p:cNvSpPr txBox="1"/>
          <p:nvPr/>
        </p:nvSpPr>
        <p:spPr bwMode="auto">
          <a:xfrm>
            <a:off x="9700260" y="7124700"/>
            <a:ext cx="249174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>
                <a:solidFill>
                  <a:srgbClr val="3A3A3A"/>
                </a:solidFill>
                <a:latin typeface="Arial"/>
              </a:rPr>
              <a:t>—</a:t>
            </a:r>
            <a:endParaRPr/>
          </a:p>
        </p:txBody>
      </p:sp>
      <p:sp>
        <p:nvSpPr>
          <p:cNvPr id="1501114827" name="TextBox 28"/>
          <p:cNvSpPr txBox="1"/>
          <p:nvPr/>
        </p:nvSpPr>
        <p:spPr bwMode="auto">
          <a:xfrm>
            <a:off x="12649200" y="7124700"/>
            <a:ext cx="44577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>
                <a:solidFill>
                  <a:srgbClr val="3A3A3A"/>
                </a:solidFill>
                <a:latin typeface="Arial"/>
              </a:rPr>
              <a:t>FastAPI Swagger UI</a:t>
            </a:r>
            <a:endParaRPr/>
          </a:p>
        </p:txBody>
      </p:sp>
      <p:cxnSp>
        <p:nvCxnSpPr>
          <p:cNvPr id="1317181577" name="Connector 29"/>
          <p:cNvCxnSpPr/>
          <p:nvPr/>
        </p:nvCxnSpPr>
        <p:spPr bwMode="auto">
          <a:xfrm>
            <a:off x="952500" y="7886700"/>
            <a:ext cx="16383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4059872" name="TextBox 30"/>
          <p:cNvSpPr txBox="1"/>
          <p:nvPr/>
        </p:nvSpPr>
        <p:spPr bwMode="auto">
          <a:xfrm>
            <a:off x="1181099" y="8039100"/>
            <a:ext cx="314706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Kafka</a:t>
            </a:r>
            <a:endParaRPr/>
          </a:p>
        </p:txBody>
      </p:sp>
      <p:sp>
        <p:nvSpPr>
          <p:cNvPr id="220882040" name="TextBox 31"/>
          <p:cNvSpPr txBox="1"/>
          <p:nvPr/>
        </p:nvSpPr>
        <p:spPr bwMode="auto">
          <a:xfrm>
            <a:off x="4785360" y="8039100"/>
            <a:ext cx="44577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>
                <a:solidFill>
                  <a:srgbClr val="3A3A3A"/>
                </a:solidFill>
                <a:latin typeface="Arial"/>
              </a:rPr>
              <a:t>kafka:9092 (barnekoa)</a:t>
            </a:r>
            <a:endParaRPr/>
          </a:p>
        </p:txBody>
      </p:sp>
      <p:sp>
        <p:nvSpPr>
          <p:cNvPr id="755960846" name="TextBox 32"/>
          <p:cNvSpPr txBox="1"/>
          <p:nvPr/>
        </p:nvSpPr>
        <p:spPr bwMode="auto">
          <a:xfrm>
            <a:off x="9700260" y="8039100"/>
            <a:ext cx="249174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>
                <a:solidFill>
                  <a:srgbClr val="3A3A3A"/>
                </a:solidFill>
                <a:latin typeface="Arial"/>
              </a:rPr>
              <a:t>—</a:t>
            </a:r>
            <a:endParaRPr/>
          </a:p>
        </p:txBody>
      </p:sp>
      <p:sp>
        <p:nvSpPr>
          <p:cNvPr id="922419101" name="TextBox 33"/>
          <p:cNvSpPr txBox="1"/>
          <p:nvPr/>
        </p:nvSpPr>
        <p:spPr bwMode="auto">
          <a:xfrm>
            <a:off x="12649200" y="8039100"/>
            <a:ext cx="44577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950">
                <a:solidFill>
                  <a:srgbClr val="3A3A3A"/>
                </a:solidFill>
                <a:latin typeface="Arial"/>
              </a:rPr>
              <a:t>Ez dago kanpoko sarbiderik</a:t>
            </a:r>
            <a:endParaRPr/>
          </a:p>
        </p:txBody>
      </p:sp>
      <p:cxnSp>
        <p:nvCxnSpPr>
          <p:cNvPr id="1214430910" name="Connector 34"/>
          <p:cNvCxnSpPr/>
          <p:nvPr/>
        </p:nvCxnSpPr>
        <p:spPr bwMode="auto">
          <a:xfrm>
            <a:off x="952500" y="8801100"/>
            <a:ext cx="16383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9969134" name="Rectangle 35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573552483" name="Connector 36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222527" name="TextBox 37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1877485645" name="Picture 38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949636089" name="Picture 39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152475650" name="Picture 40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632793840" name="Picture 41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1543746833" name="TextBox 42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08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093138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2953669" name="TextBox 2"/>
          <p:cNvSpPr txBox="1"/>
          <p:nvPr/>
        </p:nvSpPr>
        <p:spPr bwMode="auto">
          <a:xfrm>
            <a:off x="952500" y="914400"/>
            <a:ext cx="8572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ATALA · 01</a:t>
            </a:r>
            <a:endParaRPr/>
          </a:p>
        </p:txBody>
      </p:sp>
      <p:sp>
        <p:nvSpPr>
          <p:cNvPr id="1980754773" name="TextBox 3"/>
          <p:cNvSpPr txBox="1"/>
          <p:nvPr/>
        </p:nvSpPr>
        <p:spPr bwMode="auto">
          <a:xfrm>
            <a:off x="952500" y="3429000"/>
            <a:ext cx="3810000" cy="476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5000"/>
              </a:lnSpc>
              <a:defRPr/>
            </a:pPr>
            <a:r>
              <a:rPr sz="21000">
                <a:solidFill>
                  <a:srgbClr val="A02834"/>
                </a:solidFill>
                <a:latin typeface="Courier New"/>
              </a:rPr>
              <a:t>01</a:t>
            </a:r>
            <a:endParaRPr/>
          </a:p>
        </p:txBody>
      </p:sp>
      <p:sp>
        <p:nvSpPr>
          <p:cNvPr id="1954428417" name="TextBox 4"/>
          <p:cNvSpPr txBox="1"/>
          <p:nvPr/>
        </p:nvSpPr>
        <p:spPr bwMode="auto">
          <a:xfrm>
            <a:off x="4572000" y="4953000"/>
            <a:ext cx="13335000" cy="476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defRPr/>
            </a:pPr>
            <a:r>
              <a:rPr sz="8400">
                <a:solidFill>
                  <a:srgbClr val="F7F5F1"/>
                </a:solidFill>
                <a:latin typeface="Georgia"/>
              </a:rPr>
              <a:t>Sentsore-Datuak</a:t>
            </a:r>
            <a:endParaRPr/>
          </a:p>
          <a:p>
            <a:pPr algn="l">
              <a:lnSpc>
                <a:spcPct val="102000"/>
              </a:lnSpc>
              <a:defRPr/>
            </a:pPr>
            <a:r>
              <a:rPr sz="8400">
                <a:solidFill>
                  <a:srgbClr val="F7F5F1"/>
                </a:solidFill>
                <a:latin typeface="Georgia"/>
              </a:rPr>
              <a:t>Hartu eta Gorde</a:t>
            </a:r>
            <a:endParaRPr/>
          </a:p>
        </p:txBody>
      </p:sp>
      <p:sp>
        <p:nvSpPr>
          <p:cNvPr id="1532056050" name="Rectangle 5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0F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11092788" name="Connector 6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2A2E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0919429" name="TextBox 7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888C92"/>
                </a:solidFill>
                <a:latin typeface="Courier New"/>
              </a:rPr>
              <a:t>IABD Espezializazioa · Erronka 1   ·   …</a:t>
            </a:r>
            <a:endParaRPr/>
          </a:p>
        </p:txBody>
      </p:sp>
      <p:pic>
        <p:nvPicPr>
          <p:cNvPr id="2140897735" name="Picture 8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1509194804" name="Picture 9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52899838" name="Picture 10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871458013" name="Picture 11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1364237282" name="TextBox 12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888C92"/>
                </a:solidFill>
                <a:latin typeface="Courier New"/>
              </a:rPr>
              <a:t>09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744220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40363932" name="Picture 2" descr="Ikasleak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000991"/>
            <a:ext cx="12954000" cy="7065818"/>
          </a:xfrm>
          <a:prstGeom prst="rect">
            <a:avLst/>
          </a:prstGeom>
        </p:spPr>
      </p:pic>
      <p:sp>
        <p:nvSpPr>
          <p:cNvPr id="138264172" name="Rectangle 3"/>
          <p:cNvSpPr/>
          <p:nvPr/>
        </p:nvSpPr>
        <p:spPr bwMode="auto">
          <a:xfrm>
            <a:off x="12954000" y="0"/>
            <a:ext cx="5334000" cy="9067800"/>
          </a:xfrm>
          <a:prstGeom prst="rect">
            <a:avLst/>
          </a:prstGeom>
          <a:solidFill>
            <a:srgbClr val="F7F5F1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6813427" name="Rectangle 4"/>
          <p:cNvSpPr/>
          <p:nvPr/>
        </p:nvSpPr>
        <p:spPr bwMode="auto">
          <a:xfrm>
            <a:off x="13639800" y="1047750"/>
            <a:ext cx="381000" cy="28575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0626871" name="TextBox 5"/>
          <p:cNvSpPr txBox="1"/>
          <p:nvPr/>
        </p:nvSpPr>
        <p:spPr bwMode="auto">
          <a:xfrm>
            <a:off x="14154150" y="914400"/>
            <a:ext cx="571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1. FASEA</a:t>
            </a:r>
            <a:endParaRPr/>
          </a:p>
        </p:txBody>
      </p:sp>
      <p:sp>
        <p:nvSpPr>
          <p:cNvPr id="1127668938" name="TextBox 6"/>
          <p:cNvSpPr txBox="1"/>
          <p:nvPr/>
        </p:nvSpPr>
        <p:spPr bwMode="auto">
          <a:xfrm>
            <a:off x="13639800" y="1485900"/>
            <a:ext cx="39624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3900">
                <a:solidFill>
                  <a:srgbClr val="1A1A1A"/>
                </a:solidFill>
                <a:latin typeface="Georgia"/>
              </a:rPr>
              <a:t>Datuen bidea: simuladoretik Kibana-ra</a:t>
            </a:r>
            <a:endParaRPr/>
          </a:p>
        </p:txBody>
      </p:sp>
      <p:sp>
        <p:nvSpPr>
          <p:cNvPr id="1859022170" name="TextBox 7"/>
          <p:cNvSpPr txBox="1"/>
          <p:nvPr/>
        </p:nvSpPr>
        <p:spPr bwMode="auto">
          <a:xfrm>
            <a:off x="13639800" y="3581400"/>
            <a:ext cx="3962400" cy="38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sz="1800">
                <a:solidFill>
                  <a:srgbClr val="3A3A3A"/>
                </a:solidFill>
                <a:latin typeface="Arial"/>
              </a:rPr>
              <a:t>Simuladorea → CSV fitxategiak → Filebeat → Kafka → NiFi → Elasticsearch → Kibana. Filebeat-ek CSV goiburua iragazten du. NiFi-k CSV lerroak JSON bihurtzen ditu eta ES-era indexatzen. Kibana-n 4 panel sortu behar dituzue.</a:t>
            </a:r>
            <a:endParaRPr/>
          </a:p>
        </p:txBody>
      </p:sp>
      <p:sp>
        <p:nvSpPr>
          <p:cNvPr id="2109161967" name="Rectangle 8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280174508" name="Connector 9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0802008" name="TextBox 10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1932365919" name="Picture 11" descr="laneki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769388971" name="Picture 12" descr="gobierno-vasco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501647199" name="Picture 13" descr="fp-euskadi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258607868" name="Picture 14" descr="ehu-gipuzkoa.jp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883580985" name="TextBox 15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10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253493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6540266" name="Rectangle 2"/>
          <p:cNvSpPr/>
          <p:nvPr/>
        </p:nvSpPr>
        <p:spPr bwMode="auto">
          <a:xfrm>
            <a:off x="952500" y="1047750"/>
            <a:ext cx="381000" cy="28575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6119270" name="TextBox 3"/>
          <p:cNvSpPr txBox="1"/>
          <p:nvPr/>
        </p:nvSpPr>
        <p:spPr bwMode="auto">
          <a:xfrm>
            <a:off x="1466849" y="914400"/>
            <a:ext cx="571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DATU-BILKETA · ASTE 1 · %35</a:t>
            </a:r>
            <a:endParaRPr/>
          </a:p>
        </p:txBody>
      </p:sp>
      <p:sp>
        <p:nvSpPr>
          <p:cNvPr id="940296388" name="TextBox 4"/>
          <p:cNvSpPr txBox="1"/>
          <p:nvPr/>
        </p:nvSpPr>
        <p:spPr bwMode="auto">
          <a:xfrm>
            <a:off x="952500" y="1485900"/>
            <a:ext cx="16383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5400">
                <a:solidFill>
                  <a:srgbClr val="1A1A1A"/>
                </a:solidFill>
                <a:latin typeface="Georgia"/>
              </a:rPr>
              <a:t>1. Fasea — Zure zereginak</a:t>
            </a:r>
            <a:endParaRPr/>
          </a:p>
        </p:txBody>
      </p:sp>
      <p:sp>
        <p:nvSpPr>
          <p:cNvPr id="143414786" name="TextBox 5"/>
          <p:cNvSpPr txBox="1"/>
          <p:nvPr/>
        </p:nvSpPr>
        <p:spPr bwMode="auto">
          <a:xfrm>
            <a:off x="952500" y="3429000"/>
            <a:ext cx="952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800">
                <a:solidFill>
                  <a:srgbClr val="A02834"/>
                </a:solidFill>
                <a:latin typeface="Georgia"/>
              </a:rPr>
              <a:t>01</a:t>
            </a:r>
            <a:endParaRPr/>
          </a:p>
        </p:txBody>
      </p:sp>
      <p:sp>
        <p:nvSpPr>
          <p:cNvPr id="656667305" name="TextBox 6"/>
          <p:cNvSpPr txBox="1"/>
          <p:nvPr/>
        </p:nvSpPr>
        <p:spPr bwMode="auto">
          <a:xfrm>
            <a:off x="1905000" y="3505199"/>
            <a:ext cx="13335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2550" b="1">
                <a:solidFill>
                  <a:srgbClr val="1A1A1A"/>
                </a:solidFill>
                <a:latin typeface="Arial"/>
              </a:rPr>
              <a:t>Filebeat konfiguratu — filebeat/filebeat.yml osatu</a:t>
            </a:r>
            <a:endParaRPr/>
          </a:p>
        </p:txBody>
      </p:sp>
      <p:sp>
        <p:nvSpPr>
          <p:cNvPr id="995314235" name="TextBox 7"/>
          <p:cNvSpPr txBox="1"/>
          <p:nvPr/>
        </p:nvSpPr>
        <p:spPr bwMode="auto">
          <a:xfrm>
            <a:off x="1905000" y="3981450"/>
            <a:ext cx="1333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defRPr/>
            </a:pPr>
            <a:r>
              <a:rPr sz="2100">
                <a:solidFill>
                  <a:srgbClr val="3A3A3A"/>
                </a:solidFill>
                <a:latin typeface="Arial"/>
              </a:rPr>
              <a:t>Definitu: zer fitxategi begiratu (/mnt/cnc-stream/*.csv), zer iragazi (goiburua), nora bidali (Kafka), nola formateatu (codec.format: '%{[message]}').</a:t>
            </a:r>
            <a:endParaRPr/>
          </a:p>
        </p:txBody>
      </p:sp>
      <p:sp>
        <p:nvSpPr>
          <p:cNvPr id="721095304" name="TextBox 8"/>
          <p:cNvSpPr txBox="1"/>
          <p:nvPr/>
        </p:nvSpPr>
        <p:spPr bwMode="auto">
          <a:xfrm>
            <a:off x="952500" y="5143500"/>
            <a:ext cx="952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800">
                <a:solidFill>
                  <a:srgbClr val="A02834"/>
                </a:solidFill>
                <a:latin typeface="Georgia"/>
              </a:rPr>
              <a:t>02</a:t>
            </a:r>
            <a:endParaRPr/>
          </a:p>
        </p:txBody>
      </p:sp>
      <p:sp>
        <p:nvSpPr>
          <p:cNvPr id="1874081341" name="TextBox 9"/>
          <p:cNvSpPr txBox="1"/>
          <p:nvPr/>
        </p:nvSpPr>
        <p:spPr bwMode="auto">
          <a:xfrm>
            <a:off x="1905000" y="5219700"/>
            <a:ext cx="13335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2550" b="1">
                <a:solidFill>
                  <a:srgbClr val="1A1A1A"/>
                </a:solidFill>
                <a:latin typeface="Arial"/>
              </a:rPr>
              <a:t>NiFi flow-a osatu — CSV → JSON → Elasticsearch</a:t>
            </a:r>
            <a:endParaRPr/>
          </a:p>
        </p:txBody>
      </p:sp>
      <p:sp>
        <p:nvSpPr>
          <p:cNvPr id="837544742" name="TextBox 10"/>
          <p:cNvSpPr txBox="1"/>
          <p:nvPr/>
        </p:nvSpPr>
        <p:spPr bwMode="auto">
          <a:xfrm>
            <a:off x="1905000" y="5695950"/>
            <a:ext cx="1333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defRPr/>
            </a:pPr>
            <a:r>
              <a:rPr sz="2100">
                <a:solidFill>
                  <a:srgbClr val="3A3A3A"/>
                </a:solidFill>
                <a:latin typeface="Arial"/>
              </a:rPr>
              <a:t>ConsumeKafka (dagoeneko konfiguratuta) → CSVReader (Avro schema osatu 14 eremurekin) → ConvertRecord → PutElasticsearchJson.</a:t>
            </a:r>
            <a:endParaRPr/>
          </a:p>
        </p:txBody>
      </p:sp>
      <p:sp>
        <p:nvSpPr>
          <p:cNvPr id="551338882" name="TextBox 11"/>
          <p:cNvSpPr txBox="1"/>
          <p:nvPr/>
        </p:nvSpPr>
        <p:spPr bwMode="auto">
          <a:xfrm>
            <a:off x="952500" y="6858000"/>
            <a:ext cx="952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800">
                <a:solidFill>
                  <a:srgbClr val="A02834"/>
                </a:solidFill>
                <a:latin typeface="Georgia"/>
              </a:rPr>
              <a:t>03</a:t>
            </a:r>
            <a:endParaRPr/>
          </a:p>
        </p:txBody>
      </p:sp>
      <p:sp>
        <p:nvSpPr>
          <p:cNvPr id="2055429957" name="TextBox 12"/>
          <p:cNvSpPr txBox="1"/>
          <p:nvPr/>
        </p:nvSpPr>
        <p:spPr bwMode="auto">
          <a:xfrm>
            <a:off x="1905000" y="6934200"/>
            <a:ext cx="13335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2550" b="1">
                <a:solidFill>
                  <a:srgbClr val="1A1A1A"/>
                </a:solidFill>
                <a:latin typeface="Arial"/>
              </a:rPr>
              <a:t>Elasticsearch indizea egiaztatu — cnc-sensors</a:t>
            </a:r>
            <a:endParaRPr/>
          </a:p>
        </p:txBody>
      </p:sp>
      <p:sp>
        <p:nvSpPr>
          <p:cNvPr id="649946440" name="TextBox 13"/>
          <p:cNvSpPr txBox="1"/>
          <p:nvPr/>
        </p:nvSpPr>
        <p:spPr bwMode="auto">
          <a:xfrm>
            <a:off x="1905000" y="7410450"/>
            <a:ext cx="1333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defRPr/>
            </a:pPr>
            <a:r>
              <a:rPr sz="2100">
                <a:solidFill>
                  <a:srgbClr val="3A3A3A"/>
                </a:solidFill>
                <a:latin typeface="Arial"/>
              </a:rPr>
              <a:t>GET cnc-sensors/_cat/indices eta egiaztatu dokumentuak daudela. Mappings zuzenak direla ziurtatu (timestamp→date, machine_id→keyword...).</a:t>
            </a:r>
            <a:endParaRPr/>
          </a:p>
        </p:txBody>
      </p:sp>
      <p:sp>
        <p:nvSpPr>
          <p:cNvPr id="131917051" name="TextBox 14"/>
          <p:cNvSpPr txBox="1"/>
          <p:nvPr/>
        </p:nvSpPr>
        <p:spPr bwMode="auto">
          <a:xfrm>
            <a:off x="952500" y="8572500"/>
            <a:ext cx="952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800">
                <a:solidFill>
                  <a:srgbClr val="A02834"/>
                </a:solidFill>
                <a:latin typeface="Georgia"/>
              </a:rPr>
              <a:t>04</a:t>
            </a:r>
            <a:endParaRPr/>
          </a:p>
        </p:txBody>
      </p:sp>
      <p:sp>
        <p:nvSpPr>
          <p:cNvPr id="876758231" name="TextBox 15"/>
          <p:cNvSpPr txBox="1"/>
          <p:nvPr/>
        </p:nvSpPr>
        <p:spPr bwMode="auto">
          <a:xfrm>
            <a:off x="1905000" y="8648700"/>
            <a:ext cx="13335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2550" b="1">
                <a:solidFill>
                  <a:srgbClr val="1A1A1A"/>
                </a:solidFill>
                <a:latin typeface="Arial"/>
              </a:rPr>
              <a:t>Kibana dashboard-a sortu — 4 panel mota</a:t>
            </a:r>
            <a:endParaRPr/>
          </a:p>
        </p:txBody>
      </p:sp>
      <p:sp>
        <p:nvSpPr>
          <p:cNvPr id="833561580" name="TextBox 16"/>
          <p:cNvSpPr txBox="1"/>
          <p:nvPr/>
        </p:nvSpPr>
        <p:spPr bwMode="auto">
          <a:xfrm>
            <a:off x="1905000" y="9124950"/>
            <a:ext cx="1333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defRPr/>
            </a:pPr>
            <a:r>
              <a:rPr sz="2100">
                <a:solidFill>
                  <a:srgbClr val="3A3A3A"/>
                </a:solidFill>
                <a:latin typeface="Arial"/>
              </a:rPr>
              <a:t>Line chart (tenperatura denboran), Heatmap (higadura vs hutsegite), Data table (azken 50 gertaera), KPI cards (hutsegite-tasa, makina aktiboak).</a:t>
            </a:r>
            <a:endParaRPr/>
          </a:p>
        </p:txBody>
      </p:sp>
      <p:sp>
        <p:nvSpPr>
          <p:cNvPr id="595687575" name="Rectangle 17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649422393" name="Connector 18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1915543" name="TextBox 19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1592883072" name="Picture 20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599524352" name="Picture 21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1656080752" name="Picture 22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1173651770" name="Picture 23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1035401040" name="TextBox 24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11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267226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4316246" name="Rectangle 2"/>
          <p:cNvSpPr/>
          <p:nvPr/>
        </p:nvSpPr>
        <p:spPr bwMode="auto">
          <a:xfrm>
            <a:off x="952500" y="1066800"/>
            <a:ext cx="6105525" cy="476250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8359152" name="TextBox 3"/>
          <p:cNvSpPr txBox="1"/>
          <p:nvPr/>
        </p:nvSpPr>
        <p:spPr bwMode="auto">
          <a:xfrm>
            <a:off x="1143000" y="1123950"/>
            <a:ext cx="5724524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180">
                <a:solidFill>
                  <a:srgbClr val="FFFFFF"/>
                </a:solidFill>
                <a:latin typeface="Courier New"/>
              </a:rPr>
              <a:t>ARIKETA · 01     aste 1 · taldeka</a:t>
            </a:r>
            <a:endParaRPr/>
          </a:p>
        </p:txBody>
      </p:sp>
      <p:sp>
        <p:nvSpPr>
          <p:cNvPr id="1183202073" name="TextBox 4"/>
          <p:cNvSpPr txBox="1"/>
          <p:nvPr/>
        </p:nvSpPr>
        <p:spPr bwMode="auto">
          <a:xfrm>
            <a:off x="952500" y="1866900"/>
            <a:ext cx="1638300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5400">
                <a:solidFill>
                  <a:srgbClr val="1A1A1A"/>
                </a:solidFill>
                <a:latin typeface="Georgia"/>
              </a:rPr>
              <a:t>1. Faseko pentsatzeko galderak</a:t>
            </a:r>
            <a:endParaRPr/>
          </a:p>
        </p:txBody>
      </p:sp>
      <p:sp>
        <p:nvSpPr>
          <p:cNvPr id="513829429" name="TextBox 5"/>
          <p:cNvSpPr txBox="1"/>
          <p:nvPr/>
        </p:nvSpPr>
        <p:spPr bwMode="auto">
          <a:xfrm>
            <a:off x="952500" y="4191000"/>
            <a:ext cx="3810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180">
                <a:solidFill>
                  <a:srgbClr val="6B6B6B"/>
                </a:solidFill>
                <a:latin typeface="Courier New"/>
              </a:rPr>
              <a:t>EGOERA</a:t>
            </a:r>
            <a:endParaRPr/>
          </a:p>
        </p:txBody>
      </p:sp>
      <p:sp>
        <p:nvSpPr>
          <p:cNvPr id="1830442972" name="TextBox 6"/>
          <p:cNvSpPr txBox="1"/>
          <p:nvPr/>
        </p:nvSpPr>
        <p:spPr bwMode="auto">
          <a:xfrm>
            <a:off x="952500" y="4648200"/>
            <a:ext cx="8222343" cy="38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sz="2250">
                <a:solidFill>
                  <a:srgbClr val="3A3A3A"/>
                </a:solidFill>
                <a:latin typeface="Arial"/>
              </a:rPr>
              <a:t>Galdera hauek ingeniaritza-irizpidea lantzeko dira. Erantzunak README-an dokumentatu behar dira, taldeak eztabaidatu ondoren. Ez dago erantzun zuzen bakar bat — justifikazioa da gakoa.</a:t>
            </a:r>
            <a:endParaRPr/>
          </a:p>
        </p:txBody>
      </p:sp>
      <p:sp>
        <p:nvSpPr>
          <p:cNvPr id="984852504" name="TextBox 7"/>
          <p:cNvSpPr txBox="1"/>
          <p:nvPr/>
        </p:nvSpPr>
        <p:spPr bwMode="auto">
          <a:xfrm>
            <a:off x="9860643" y="4191000"/>
            <a:ext cx="3810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180">
                <a:solidFill>
                  <a:srgbClr val="6B6B6B"/>
                </a:solidFill>
                <a:latin typeface="Courier New"/>
              </a:rPr>
              <a:t>EGINKIZUNAK</a:t>
            </a:r>
            <a:endParaRPr/>
          </a:p>
        </p:txBody>
      </p:sp>
      <p:sp>
        <p:nvSpPr>
          <p:cNvPr id="447646662" name="TextBox 8"/>
          <p:cNvSpPr txBox="1"/>
          <p:nvPr/>
        </p:nvSpPr>
        <p:spPr bwMode="auto">
          <a:xfrm>
            <a:off x="9860643" y="4648200"/>
            <a:ext cx="7474857" cy="419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19100" indent="-342900" algn="l">
              <a:lnSpc>
                <a:spcPct val="128000"/>
              </a:lnSpc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G1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Filebeat registry gabe: zer gertatuko litzateke berrabiaraztean?</a:t>
            </a:r>
            <a:endParaRPr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G2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NFS read-only: zergatik eta zer arazo ekarriko luke idazketa-baimenak?</a:t>
            </a:r>
            <a:endParaRPr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G3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Zer gertatuko litzateke goiburua ES-era iritsiko balitz?</a:t>
            </a:r>
            <a:endParaRPr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G4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Zein 3 KPI lirateke garrantzitsuenak zuzendaritzarentzat?</a:t>
            </a:r>
            <a:endParaRPr/>
          </a:p>
        </p:txBody>
      </p:sp>
      <p:sp>
        <p:nvSpPr>
          <p:cNvPr id="1379942595" name="Rectangle 9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00849801" name="Connector 10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239164" name="TextBox 11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101398140" name="Picture 12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2138010538" name="Picture 13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289325936" name="Picture 14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1465356399" name="Picture 15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1997404829" name="TextBox 16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12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637349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9223970" name="TextBox 2"/>
          <p:cNvSpPr txBox="1"/>
          <p:nvPr/>
        </p:nvSpPr>
        <p:spPr bwMode="auto">
          <a:xfrm>
            <a:off x="952500" y="914400"/>
            <a:ext cx="8572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ATALA · 02</a:t>
            </a:r>
            <a:endParaRPr/>
          </a:p>
        </p:txBody>
      </p:sp>
      <p:sp>
        <p:nvSpPr>
          <p:cNvPr id="775537889" name="TextBox 3"/>
          <p:cNvSpPr txBox="1"/>
          <p:nvPr/>
        </p:nvSpPr>
        <p:spPr bwMode="auto">
          <a:xfrm>
            <a:off x="952500" y="3429000"/>
            <a:ext cx="3810000" cy="476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5000"/>
              </a:lnSpc>
              <a:defRPr/>
            </a:pPr>
            <a:r>
              <a:rPr sz="21000">
                <a:solidFill>
                  <a:srgbClr val="A02834"/>
                </a:solidFill>
                <a:latin typeface="Courier New"/>
              </a:rPr>
              <a:t>02</a:t>
            </a:r>
            <a:endParaRPr/>
          </a:p>
        </p:txBody>
      </p:sp>
      <p:sp>
        <p:nvSpPr>
          <p:cNvPr id="107531412" name="TextBox 4"/>
          <p:cNvSpPr txBox="1"/>
          <p:nvPr/>
        </p:nvSpPr>
        <p:spPr bwMode="auto">
          <a:xfrm>
            <a:off x="4572000" y="4953000"/>
            <a:ext cx="13335000" cy="476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defRPr/>
            </a:pPr>
            <a:r>
              <a:rPr sz="8400">
                <a:solidFill>
                  <a:srgbClr val="F7F5F1"/>
                </a:solidFill>
                <a:latin typeface="Georgia"/>
              </a:rPr>
              <a:t>ML Entrenamendua</a:t>
            </a:r>
            <a:endParaRPr/>
          </a:p>
          <a:p>
            <a:pPr algn="l">
              <a:lnSpc>
                <a:spcPct val="102000"/>
              </a:lnSpc>
              <a:defRPr/>
            </a:pPr>
            <a:r>
              <a:rPr sz="8400">
                <a:solidFill>
                  <a:srgbClr val="F7F5F1"/>
                </a:solidFill>
                <a:latin typeface="Georgia"/>
              </a:rPr>
              <a:t>(Offline)</a:t>
            </a:r>
            <a:endParaRPr/>
          </a:p>
        </p:txBody>
      </p:sp>
      <p:sp>
        <p:nvSpPr>
          <p:cNvPr id="110918870" name="Rectangle 5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0F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253243379" name="Connector 6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2A2E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7138930" name="TextBox 7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888C92"/>
                </a:solidFill>
                <a:latin typeface="Courier New"/>
              </a:rPr>
              <a:t>IABD Espezializazioa · Erronka 1   ·   …</a:t>
            </a:r>
            <a:endParaRPr/>
          </a:p>
        </p:txBody>
      </p:sp>
      <p:pic>
        <p:nvPicPr>
          <p:cNvPr id="1132246577" name="Picture 8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1680207074" name="Picture 9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767227098" name="Picture 10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1336380145" name="Picture 11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1550654906" name="TextBox 12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888C92"/>
                </a:solidFill>
                <a:latin typeface="Courier New"/>
              </a:rPr>
              <a:t>13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260359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0231541" name="Rectangle 2"/>
          <p:cNvSpPr/>
          <p:nvPr/>
        </p:nvSpPr>
        <p:spPr bwMode="auto">
          <a:xfrm>
            <a:off x="952500" y="1047750"/>
            <a:ext cx="381000" cy="28575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4749070" name="TextBox 3"/>
          <p:cNvSpPr txBox="1"/>
          <p:nvPr/>
        </p:nvSpPr>
        <p:spPr bwMode="auto">
          <a:xfrm>
            <a:off x="1466849" y="914400"/>
            <a:ext cx="571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ML ENTRENAMENDUA · 1.5 ASTE · %40</a:t>
            </a:r>
            <a:endParaRPr/>
          </a:p>
        </p:txBody>
      </p:sp>
      <p:sp>
        <p:nvSpPr>
          <p:cNvPr id="668189480" name="TextBox 4"/>
          <p:cNvSpPr txBox="1"/>
          <p:nvPr/>
        </p:nvSpPr>
        <p:spPr bwMode="auto">
          <a:xfrm>
            <a:off x="952500" y="1485900"/>
            <a:ext cx="16383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5400">
                <a:solidFill>
                  <a:srgbClr val="1A1A1A"/>
                </a:solidFill>
                <a:latin typeface="Georgia"/>
              </a:rPr>
              <a:t>2. Fasea — Zereginak</a:t>
            </a:r>
            <a:endParaRPr/>
          </a:p>
        </p:txBody>
      </p:sp>
      <p:sp>
        <p:nvSpPr>
          <p:cNvPr id="1630249483" name="TextBox 5"/>
          <p:cNvSpPr txBox="1"/>
          <p:nvPr/>
        </p:nvSpPr>
        <p:spPr bwMode="auto">
          <a:xfrm>
            <a:off x="952500" y="3429000"/>
            <a:ext cx="7810500" cy="260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19100" indent="-342900" algn="l">
              <a:lnSpc>
                <a:spcPct val="128000"/>
              </a:lnSpc>
              <a:buClr>
                <a:srgbClr val="A02834"/>
              </a:buClr>
              <a:buFont typeface="Arial"/>
              <a:buChar char="■"/>
              <a:defRPr/>
            </a:pPr>
            <a:r>
              <a:rPr sz="1950" dirty="0" err="1">
                <a:solidFill>
                  <a:srgbClr val="1A1A1A"/>
                </a:solidFill>
                <a:latin typeface="Arial"/>
              </a:rPr>
              <a:t>Datu-karga</a:t>
            </a:r>
            <a:r>
              <a:rPr sz="1950" dirty="0">
                <a:solidFill>
                  <a:srgbClr val="1A1A1A"/>
                </a:solidFill>
                <a:latin typeface="Arial"/>
              </a:rPr>
              <a:t>: 02_training_TEMPLATE.ipynb notebook-a </a:t>
            </a:r>
            <a:r>
              <a:rPr sz="1950" dirty="0" err="1">
                <a:solidFill>
                  <a:srgbClr val="1A1A1A"/>
                </a:solidFill>
                <a:latin typeface="Arial"/>
              </a:rPr>
              <a:t>ireki</a:t>
            </a:r>
            <a:r>
              <a:rPr sz="1950" dirty="0">
                <a:solidFill>
                  <a:srgbClr val="1A1A1A"/>
                </a:solidFill>
                <a:latin typeface="Arial"/>
              </a:rPr>
              <a:t> </a:t>
            </a:r>
            <a:r>
              <a:rPr sz="1950" dirty="0" err="1">
                <a:solidFill>
                  <a:srgbClr val="1A1A1A"/>
                </a:solidFill>
                <a:latin typeface="Arial"/>
              </a:rPr>
              <a:t>Jupyter-en</a:t>
            </a:r>
            <a:endParaRPr dirty="0"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 b="1" dirty="0" err="1" smtClean="0">
                <a:solidFill>
                  <a:srgbClr val="1A1A1A"/>
                </a:solidFill>
                <a:latin typeface="Arial"/>
              </a:rPr>
              <a:t>Klase</a:t>
            </a:r>
            <a:r>
              <a:rPr sz="1950" b="1" dirty="0" smtClean="0">
                <a:solidFill>
                  <a:srgbClr val="1A1A1A"/>
                </a:solidFill>
                <a:latin typeface="Arial"/>
              </a:rPr>
              <a:t>-</a:t>
            </a:r>
            <a:r>
              <a:rPr lang="eu-ES" sz="1950" b="1" dirty="0" err="1" smtClean="0">
                <a:solidFill>
                  <a:srgbClr val="1A1A1A"/>
                </a:solidFill>
                <a:latin typeface="Arial"/>
              </a:rPr>
              <a:t>deso</a:t>
            </a:r>
            <a:r>
              <a:rPr sz="1950" b="1" dirty="0" err="1" smtClean="0">
                <a:solidFill>
                  <a:srgbClr val="1A1A1A"/>
                </a:solidFill>
                <a:latin typeface="Arial"/>
              </a:rPr>
              <a:t>reka</a:t>
            </a:r>
            <a:r>
              <a:rPr sz="1950" b="1" dirty="0" smtClean="0">
                <a:solidFill>
                  <a:srgbClr val="1A1A1A"/>
                </a:solidFill>
                <a:latin typeface="Arial"/>
              </a:rPr>
              <a:t> </a:t>
            </a:r>
            <a:r>
              <a:rPr sz="1950" b="1" dirty="0" err="1">
                <a:solidFill>
                  <a:srgbClr val="1A1A1A"/>
                </a:solidFill>
                <a:latin typeface="Arial"/>
              </a:rPr>
              <a:t>tratatu</a:t>
            </a:r>
            <a:r>
              <a:rPr sz="1950" dirty="0">
                <a:solidFill>
                  <a:srgbClr val="3A3A3A"/>
                </a:solidFill>
                <a:latin typeface="Arial"/>
              </a:rPr>
              <a:t> — </a:t>
            </a:r>
            <a:r>
              <a:rPr sz="1800" dirty="0" err="1">
                <a:solidFill>
                  <a:srgbClr val="3A3A3A"/>
                </a:solidFill>
                <a:latin typeface="Arial"/>
              </a:rPr>
              <a:t>class_weight</a:t>
            </a:r>
            <a:r>
              <a:rPr sz="1800" dirty="0">
                <a:solidFill>
                  <a:srgbClr val="3A3A3A"/>
                </a:solidFill>
                <a:latin typeface="Arial"/>
              </a:rPr>
              <a:t>, SMOTE, </a:t>
            </a:r>
            <a:r>
              <a:rPr sz="1800" dirty="0" err="1">
                <a:solidFill>
                  <a:srgbClr val="3A3A3A"/>
                </a:solidFill>
                <a:latin typeface="Arial"/>
              </a:rPr>
              <a:t>edo</a:t>
            </a:r>
            <a:r>
              <a:rPr sz="1800" dirty="0">
                <a:solidFill>
                  <a:srgbClr val="3A3A3A"/>
                </a:solidFill>
                <a:latin typeface="Arial"/>
              </a:rPr>
              <a:t> threshold </a:t>
            </a:r>
            <a:r>
              <a:rPr sz="1800" dirty="0" err="1">
                <a:solidFill>
                  <a:srgbClr val="3A3A3A"/>
                </a:solidFill>
                <a:latin typeface="Arial"/>
              </a:rPr>
              <a:t>doiketa</a:t>
            </a:r>
            <a:r>
              <a:rPr sz="1800" dirty="0">
                <a:solidFill>
                  <a:srgbClr val="3A3A3A"/>
                </a:solidFill>
                <a:latin typeface="Arial"/>
              </a:rPr>
              <a:t> (</a:t>
            </a:r>
            <a:r>
              <a:rPr sz="1800" dirty="0" err="1">
                <a:solidFill>
                  <a:srgbClr val="3A3A3A"/>
                </a:solidFill>
                <a:latin typeface="Arial"/>
              </a:rPr>
              <a:t>justifikatu</a:t>
            </a:r>
            <a:r>
              <a:rPr sz="1800" dirty="0">
                <a:solidFill>
                  <a:srgbClr val="3A3A3A"/>
                </a:solidFill>
                <a:latin typeface="Arial"/>
              </a:rPr>
              <a:t>)</a:t>
            </a:r>
            <a:endParaRPr dirty="0"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 b="1" dirty="0">
                <a:solidFill>
                  <a:srgbClr val="1A1A1A"/>
                </a:solidFill>
                <a:latin typeface="Arial"/>
              </a:rPr>
              <a:t>Feature engineering</a:t>
            </a:r>
            <a:r>
              <a:rPr sz="1950" dirty="0">
                <a:solidFill>
                  <a:srgbClr val="3A3A3A"/>
                </a:solidFill>
                <a:latin typeface="Arial"/>
              </a:rPr>
              <a:t> — </a:t>
            </a:r>
            <a:r>
              <a:rPr sz="1800" dirty="0" err="1">
                <a:solidFill>
                  <a:srgbClr val="3A3A3A"/>
                </a:solidFill>
                <a:latin typeface="Arial"/>
              </a:rPr>
              <a:t>temp_diff</a:t>
            </a:r>
            <a:r>
              <a:rPr sz="1800" dirty="0">
                <a:solidFill>
                  <a:srgbClr val="3A3A3A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3A3A3A"/>
                </a:solidFill>
                <a:latin typeface="Arial"/>
              </a:rPr>
              <a:t>power_est</a:t>
            </a:r>
            <a:r>
              <a:rPr sz="1800" dirty="0">
                <a:solidFill>
                  <a:srgbClr val="3A3A3A"/>
                </a:solidFill>
                <a:latin typeface="Arial"/>
              </a:rPr>
              <a:t> (</a:t>
            </a:r>
            <a:r>
              <a:rPr sz="1800" dirty="0" err="1">
                <a:solidFill>
                  <a:srgbClr val="3A3A3A"/>
                </a:solidFill>
                <a:latin typeface="Arial"/>
              </a:rPr>
              <a:t>aukerakoa</a:t>
            </a:r>
            <a:r>
              <a:rPr sz="1800" dirty="0">
                <a:solidFill>
                  <a:srgbClr val="3A3A3A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3A3A3A"/>
                </a:solidFill>
                <a:latin typeface="Arial"/>
              </a:rPr>
              <a:t>puntu</a:t>
            </a:r>
            <a:r>
              <a:rPr sz="1800" dirty="0">
                <a:solidFill>
                  <a:srgbClr val="3A3A3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A3A3A"/>
                </a:solidFill>
                <a:latin typeface="Arial"/>
              </a:rPr>
              <a:t>gehigarria</a:t>
            </a:r>
            <a:r>
              <a:rPr sz="1800" dirty="0">
                <a:solidFill>
                  <a:srgbClr val="3A3A3A"/>
                </a:solidFill>
                <a:latin typeface="Arial"/>
              </a:rPr>
              <a:t>)</a:t>
            </a:r>
            <a:endParaRPr dirty="0"/>
          </a:p>
        </p:txBody>
      </p:sp>
      <p:sp>
        <p:nvSpPr>
          <p:cNvPr id="779933719" name="TextBox 6"/>
          <p:cNvSpPr txBox="1"/>
          <p:nvPr/>
        </p:nvSpPr>
        <p:spPr bwMode="auto">
          <a:xfrm>
            <a:off x="9525000" y="3429000"/>
            <a:ext cx="7810500" cy="506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19100" indent="-342900" algn="l">
              <a:lnSpc>
                <a:spcPct val="135000"/>
              </a:lnSpc>
              <a:buClr>
                <a:srgbClr val="A02834"/>
              </a:buClr>
              <a:buFont typeface="Arial"/>
              <a:buChar char="■"/>
              <a:defRPr/>
            </a:pPr>
            <a:r>
              <a:rPr sz="2250" b="1">
                <a:solidFill>
                  <a:srgbClr val="1A1A1A"/>
                </a:solidFill>
                <a:latin typeface="Arial"/>
              </a:rPr>
              <a:t>Random Forest / XGBoost entrenatu</a:t>
            </a:r>
            <a:r>
              <a:rPr sz="2250">
                <a:solidFill>
                  <a:srgbClr val="3A3A3A"/>
                </a:solidFill>
                <a:latin typeface="Arial"/>
              </a:rPr>
              <a:t> — </a:t>
            </a:r>
            <a:r>
              <a:rPr sz="2100">
                <a:solidFill>
                  <a:srgbClr val="3A3A3A"/>
                </a:solidFill>
                <a:latin typeface="Arial"/>
              </a:rPr>
              <a:t>recall maximizatu (ez accuracy!)</a:t>
            </a:r>
            <a:endParaRPr/>
          </a:p>
          <a:p>
            <a:pPr marL="419100" indent="-342900" algn="l">
              <a:lnSpc>
                <a:spcPct val="135000"/>
              </a:lnSpc>
              <a:spcBef>
                <a:spcPts val="18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2250">
                <a:solidFill>
                  <a:srgbClr val="1A1A1A"/>
                </a:solidFill>
                <a:latin typeface="Arial"/>
              </a:rPr>
              <a:t>classification_report + confusion_matrix interpretatu</a:t>
            </a:r>
            <a:endParaRPr/>
          </a:p>
          <a:p>
            <a:pPr marL="419100" indent="-342900" algn="l">
              <a:lnSpc>
                <a:spcPct val="135000"/>
              </a:lnSpc>
              <a:spcBef>
                <a:spcPts val="18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2250">
                <a:solidFill>
                  <a:srgbClr val="1A1A1A"/>
                </a:solidFill>
                <a:latin typeface="Arial"/>
              </a:rPr>
              <a:t>Eredua gorde: joblib.dump → models/cnc_failure_model.pkl</a:t>
            </a:r>
            <a:endParaRPr/>
          </a:p>
        </p:txBody>
      </p:sp>
      <p:sp>
        <p:nvSpPr>
          <p:cNvPr id="770102134" name="Rectangle 7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090000303" name="Connector 8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275576" name="TextBox 9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1529544284" name="Picture 10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1457466854" name="Picture 11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2079330317" name="Picture 12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1915519175" name="Picture 13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439775785" name="TextBox 14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14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52670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5511747" name="Rectangle 2"/>
          <p:cNvSpPr/>
          <p:nvPr/>
        </p:nvSpPr>
        <p:spPr bwMode="auto">
          <a:xfrm>
            <a:off x="952500" y="1047750"/>
            <a:ext cx="381000" cy="28575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093138" name="TextBox 3"/>
          <p:cNvSpPr txBox="1"/>
          <p:nvPr/>
        </p:nvSpPr>
        <p:spPr bwMode="auto">
          <a:xfrm>
            <a:off x="1466849" y="914400"/>
            <a:ext cx="571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KONTZEPTU KRITIKOA</a:t>
            </a:r>
            <a:endParaRPr/>
          </a:p>
        </p:txBody>
      </p:sp>
      <p:sp>
        <p:nvSpPr>
          <p:cNvPr id="1102486347" name="TextBox 4"/>
          <p:cNvSpPr txBox="1"/>
          <p:nvPr/>
        </p:nvSpPr>
        <p:spPr bwMode="auto">
          <a:xfrm>
            <a:off x="952500" y="1485900"/>
            <a:ext cx="16383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5400">
                <a:solidFill>
                  <a:srgbClr val="1A1A1A"/>
                </a:solidFill>
                <a:latin typeface="Georgia"/>
              </a:rPr>
              <a:t>Metrika egokia aukeratzea</a:t>
            </a:r>
            <a:endParaRPr/>
          </a:p>
        </p:txBody>
      </p:sp>
      <p:cxnSp>
        <p:nvCxnSpPr>
          <p:cNvPr id="423637181" name="Connector 5"/>
          <p:cNvCxnSpPr/>
          <p:nvPr/>
        </p:nvCxnSpPr>
        <p:spPr bwMode="auto">
          <a:xfrm>
            <a:off x="952500" y="3619500"/>
            <a:ext cx="142875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2984570" name="TextBox 6"/>
          <p:cNvSpPr txBox="1"/>
          <p:nvPr/>
        </p:nvSpPr>
        <p:spPr bwMode="auto">
          <a:xfrm>
            <a:off x="952500" y="3886200"/>
            <a:ext cx="2667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3600" i="1">
                <a:solidFill>
                  <a:srgbClr val="A02834"/>
                </a:solidFill>
                <a:latin typeface="Georgia"/>
              </a:rPr>
              <a:t>recall &gt; precision</a:t>
            </a:r>
            <a:endParaRPr/>
          </a:p>
        </p:txBody>
      </p:sp>
      <p:sp>
        <p:nvSpPr>
          <p:cNvPr id="1413701905" name="TextBox 7"/>
          <p:cNvSpPr txBox="1"/>
          <p:nvPr/>
        </p:nvSpPr>
        <p:spPr bwMode="auto">
          <a:xfrm>
            <a:off x="4000500" y="3981450"/>
            <a:ext cx="112395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defRPr/>
            </a:pPr>
            <a:r>
              <a:rPr sz="2250">
                <a:solidFill>
                  <a:srgbClr val="1A1A1A"/>
                </a:solidFill>
                <a:latin typeface="Arial"/>
              </a:rPr>
              <a:t>Hutsegite bat ez detektatzeak (false negative) 1.200 €/ordu kostatzen du. Alarma faltsu batek (false positive) mantentze-bisita bat baino ez. Beraz, hobe da alarma batzuk gehiago izatea, hutsegite bat galtzea baino.</a:t>
            </a:r>
            <a:endParaRPr/>
          </a:p>
        </p:txBody>
      </p:sp>
      <p:cxnSp>
        <p:nvCxnSpPr>
          <p:cNvPr id="304290697" name="Connector 8"/>
          <p:cNvCxnSpPr/>
          <p:nvPr/>
        </p:nvCxnSpPr>
        <p:spPr bwMode="auto">
          <a:xfrm>
            <a:off x="952500" y="5334000"/>
            <a:ext cx="142875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675997" name="Rectangle 9"/>
          <p:cNvSpPr/>
          <p:nvPr/>
        </p:nvSpPr>
        <p:spPr bwMode="auto">
          <a:xfrm>
            <a:off x="952500" y="5905500"/>
            <a:ext cx="14287500" cy="1524000"/>
          </a:xfrm>
          <a:prstGeom prst="rect">
            <a:avLst/>
          </a:prstGeom>
          <a:solidFill>
            <a:srgbClr val="EF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2868096" name="Rectangle 10"/>
          <p:cNvSpPr/>
          <p:nvPr/>
        </p:nvSpPr>
        <p:spPr bwMode="auto">
          <a:xfrm>
            <a:off x="952500" y="5905500"/>
            <a:ext cx="38100" cy="1524000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7228063" name="TextBox 11"/>
          <p:cNvSpPr txBox="1"/>
          <p:nvPr/>
        </p:nvSpPr>
        <p:spPr bwMode="auto">
          <a:xfrm>
            <a:off x="1333500" y="6210300"/>
            <a:ext cx="1714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180">
                <a:solidFill>
                  <a:srgbClr val="A02834"/>
                </a:solidFill>
                <a:latin typeface="Courier New"/>
              </a:rPr>
              <a:t>GAKOA</a:t>
            </a:r>
            <a:endParaRPr/>
          </a:p>
        </p:txBody>
      </p:sp>
      <p:sp>
        <p:nvSpPr>
          <p:cNvPr id="440047839" name="TextBox 12"/>
          <p:cNvSpPr txBox="1"/>
          <p:nvPr/>
        </p:nvSpPr>
        <p:spPr bwMode="auto">
          <a:xfrm>
            <a:off x="3429000" y="6172200"/>
            <a:ext cx="11430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defRPr/>
            </a:pPr>
            <a:r>
              <a:rPr sz="2250">
                <a:solidFill>
                  <a:srgbClr val="1A1A1A"/>
                </a:solidFill>
                <a:latin typeface="Arial"/>
              </a:rPr>
              <a:t>Eredu tonto batek (beti 0 iragarri) %96,6 accuracy du, baina ZERO hutsegite detektatzen ditu. Accuracy ez da metrika ona klase-inorekarekin. Erabili recall, precision eta F1-score.</a:t>
            </a:r>
            <a:endParaRPr/>
          </a:p>
        </p:txBody>
      </p:sp>
      <p:sp>
        <p:nvSpPr>
          <p:cNvPr id="1043034045" name="Rectangle 13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840948214" name="Connector 14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9709036" name="TextBox 15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1529637930" name="Picture 16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1597247113" name="Picture 17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1118262726" name="Picture 18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1085623354" name="Picture 19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116177469" name="TextBox 20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15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230854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7047903" name="Rectangle 2"/>
          <p:cNvSpPr/>
          <p:nvPr/>
        </p:nvSpPr>
        <p:spPr bwMode="auto">
          <a:xfrm>
            <a:off x="952500" y="1066800"/>
            <a:ext cx="6429375" cy="476250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4462008" name="TextBox 3"/>
          <p:cNvSpPr txBox="1"/>
          <p:nvPr/>
        </p:nvSpPr>
        <p:spPr bwMode="auto">
          <a:xfrm>
            <a:off x="1143000" y="1123950"/>
            <a:ext cx="60483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180">
                <a:solidFill>
                  <a:srgbClr val="FFFFFF"/>
                </a:solidFill>
                <a:latin typeface="Courier New"/>
              </a:rPr>
              <a:t>ARIKETA · 02     aste 1.5 · taldeka</a:t>
            </a:r>
            <a:endParaRPr/>
          </a:p>
        </p:txBody>
      </p:sp>
      <p:sp>
        <p:nvSpPr>
          <p:cNvPr id="1953894023" name="TextBox 4"/>
          <p:cNvSpPr txBox="1"/>
          <p:nvPr/>
        </p:nvSpPr>
        <p:spPr bwMode="auto">
          <a:xfrm>
            <a:off x="952500" y="1866900"/>
            <a:ext cx="1638300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5400">
                <a:solidFill>
                  <a:srgbClr val="1A1A1A"/>
                </a:solidFill>
                <a:latin typeface="Georgia"/>
              </a:rPr>
              <a:t>2. Faseko pentsatzeko galderak</a:t>
            </a:r>
            <a:endParaRPr/>
          </a:p>
        </p:txBody>
      </p:sp>
      <p:sp>
        <p:nvSpPr>
          <p:cNvPr id="1942430630" name="TextBox 5"/>
          <p:cNvSpPr txBox="1"/>
          <p:nvPr/>
        </p:nvSpPr>
        <p:spPr bwMode="auto">
          <a:xfrm>
            <a:off x="952500" y="4191000"/>
            <a:ext cx="3810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180">
                <a:solidFill>
                  <a:srgbClr val="6B6B6B"/>
                </a:solidFill>
                <a:latin typeface="Courier New"/>
              </a:rPr>
              <a:t>EGOERA</a:t>
            </a:r>
            <a:endParaRPr/>
          </a:p>
        </p:txBody>
      </p:sp>
      <p:sp>
        <p:nvSpPr>
          <p:cNvPr id="1127906985" name="TextBox 6"/>
          <p:cNvSpPr txBox="1"/>
          <p:nvPr/>
        </p:nvSpPr>
        <p:spPr bwMode="auto">
          <a:xfrm>
            <a:off x="952500" y="4648200"/>
            <a:ext cx="8222343" cy="38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sz="2250">
                <a:solidFill>
                  <a:srgbClr val="3A3A3A"/>
                </a:solidFill>
                <a:latin typeface="Arial"/>
              </a:rPr>
              <a:t>ML entrenamendua ez da soilik .fit() exekutatzea. Erabaki bakoitzak ondorioak ditu negozioan. Galdera hauek erabaki horiek modu kontzientean hartzen lagunduko dizuete.</a:t>
            </a:r>
            <a:endParaRPr/>
          </a:p>
        </p:txBody>
      </p:sp>
      <p:sp>
        <p:nvSpPr>
          <p:cNvPr id="1082822327" name="TextBox 7"/>
          <p:cNvSpPr txBox="1"/>
          <p:nvPr/>
        </p:nvSpPr>
        <p:spPr bwMode="auto">
          <a:xfrm>
            <a:off x="9860643" y="4191000"/>
            <a:ext cx="3810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180">
                <a:solidFill>
                  <a:srgbClr val="6B6B6B"/>
                </a:solidFill>
                <a:latin typeface="Courier New"/>
              </a:rPr>
              <a:t>EGINKIZUNAK</a:t>
            </a:r>
            <a:endParaRPr/>
          </a:p>
        </p:txBody>
      </p:sp>
      <p:sp>
        <p:nvSpPr>
          <p:cNvPr id="177071089" name="TextBox 8"/>
          <p:cNvSpPr txBox="1"/>
          <p:nvPr/>
        </p:nvSpPr>
        <p:spPr bwMode="auto">
          <a:xfrm>
            <a:off x="9860643" y="4648200"/>
            <a:ext cx="7474857" cy="419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19100" indent="-342900" algn="l">
              <a:lnSpc>
                <a:spcPct val="128000"/>
              </a:lnSpc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G5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Accuracy %96,6 baina zero hutsegite: zergatik da tranpa?</a:t>
            </a:r>
            <a:endParaRPr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G6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Zergatik da recall garrantzitsuagoa precision baino?</a:t>
            </a:r>
            <a:endParaRPr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G7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Zer da SMOTE eta noiz da egokia erabiltzea?</a:t>
            </a:r>
            <a:endParaRPr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G8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Nola konparatuko zenituzke Random Forest eta XGBoost?</a:t>
            </a:r>
            <a:endParaRPr/>
          </a:p>
        </p:txBody>
      </p:sp>
      <p:sp>
        <p:nvSpPr>
          <p:cNvPr id="167034450" name="Rectangle 9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749580341" name="Connector 10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2233836" name="TextBox 11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2057668864" name="Picture 12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853735938" name="Picture 13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1077395087" name="Picture 14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671735308" name="Picture 15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762405583" name="TextBox 16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16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42428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8488105" name="TextBox 2"/>
          <p:cNvSpPr txBox="1"/>
          <p:nvPr/>
        </p:nvSpPr>
        <p:spPr bwMode="auto">
          <a:xfrm>
            <a:off x="952500" y="914400"/>
            <a:ext cx="8572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ATALA · 03</a:t>
            </a:r>
            <a:endParaRPr/>
          </a:p>
        </p:txBody>
      </p:sp>
      <p:sp>
        <p:nvSpPr>
          <p:cNvPr id="598316210" name="TextBox 3"/>
          <p:cNvSpPr txBox="1"/>
          <p:nvPr/>
        </p:nvSpPr>
        <p:spPr bwMode="auto">
          <a:xfrm>
            <a:off x="952500" y="3429000"/>
            <a:ext cx="3810000" cy="476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5000"/>
              </a:lnSpc>
              <a:defRPr/>
            </a:pPr>
            <a:r>
              <a:rPr sz="21000">
                <a:solidFill>
                  <a:srgbClr val="A02834"/>
                </a:solidFill>
                <a:latin typeface="Courier New"/>
              </a:rPr>
              <a:t>03</a:t>
            </a:r>
            <a:endParaRPr/>
          </a:p>
        </p:txBody>
      </p:sp>
      <p:sp>
        <p:nvSpPr>
          <p:cNvPr id="1019472814" name="TextBox 4"/>
          <p:cNvSpPr txBox="1"/>
          <p:nvPr/>
        </p:nvSpPr>
        <p:spPr bwMode="auto">
          <a:xfrm>
            <a:off x="4572000" y="4953000"/>
            <a:ext cx="13335000" cy="476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defRPr/>
            </a:pPr>
            <a:r>
              <a:rPr sz="8400">
                <a:solidFill>
                  <a:srgbClr val="F7F5F1"/>
                </a:solidFill>
                <a:latin typeface="Georgia"/>
              </a:rPr>
              <a:t>Eredua</a:t>
            </a:r>
            <a:endParaRPr/>
          </a:p>
          <a:p>
            <a:pPr algn="l">
              <a:lnSpc>
                <a:spcPct val="102000"/>
              </a:lnSpc>
              <a:defRPr/>
            </a:pPr>
            <a:r>
              <a:rPr sz="8400">
                <a:solidFill>
                  <a:srgbClr val="F7F5F1"/>
                </a:solidFill>
                <a:latin typeface="Georgia"/>
              </a:rPr>
              <a:t>Ekoizpenera Eraman</a:t>
            </a:r>
            <a:endParaRPr/>
          </a:p>
        </p:txBody>
      </p:sp>
      <p:sp>
        <p:nvSpPr>
          <p:cNvPr id="1670758982" name="Rectangle 5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0F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549758375" name="Connector 6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2A2E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7529167" name="TextBox 7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888C92"/>
                </a:solidFill>
                <a:latin typeface="Courier New"/>
              </a:rPr>
              <a:t>IABD Espezializazioa · Erronka 1   ·   …</a:t>
            </a:r>
            <a:endParaRPr/>
          </a:p>
        </p:txBody>
      </p:sp>
      <p:pic>
        <p:nvPicPr>
          <p:cNvPr id="713635747" name="Picture 8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63037977" name="Picture 9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2062372312" name="Picture 10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360251964" name="Picture 11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1064882868" name="TextBox 12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888C92"/>
                </a:solidFill>
                <a:latin typeface="Courier New"/>
              </a:rPr>
              <a:t>17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544643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2100812" name="Rectangle 2"/>
          <p:cNvSpPr/>
          <p:nvPr/>
        </p:nvSpPr>
        <p:spPr bwMode="auto">
          <a:xfrm>
            <a:off x="952500" y="1047750"/>
            <a:ext cx="381000" cy="28575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3985933" name="TextBox 3"/>
          <p:cNvSpPr txBox="1"/>
          <p:nvPr/>
        </p:nvSpPr>
        <p:spPr bwMode="auto">
          <a:xfrm>
            <a:off x="1466849" y="914400"/>
            <a:ext cx="571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EKOIZPENA · ASTE 0.5 · %20</a:t>
            </a:r>
            <a:endParaRPr/>
          </a:p>
        </p:txBody>
      </p:sp>
      <p:sp>
        <p:nvSpPr>
          <p:cNvPr id="2134944616" name="TextBox 4"/>
          <p:cNvSpPr txBox="1"/>
          <p:nvPr/>
        </p:nvSpPr>
        <p:spPr bwMode="auto">
          <a:xfrm>
            <a:off x="952500" y="1485900"/>
            <a:ext cx="16383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5400">
                <a:solidFill>
                  <a:srgbClr val="1A1A1A"/>
                </a:solidFill>
                <a:latin typeface="Georgia"/>
              </a:rPr>
              <a:t>3. Fasea — Zereginak</a:t>
            </a:r>
            <a:endParaRPr/>
          </a:p>
        </p:txBody>
      </p:sp>
      <p:sp>
        <p:nvSpPr>
          <p:cNvPr id="2147075809" name="TextBox 5"/>
          <p:cNvSpPr txBox="1"/>
          <p:nvPr/>
        </p:nvSpPr>
        <p:spPr bwMode="auto">
          <a:xfrm>
            <a:off x="952500" y="3429000"/>
            <a:ext cx="7810500" cy="506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19100" indent="-342900" algn="l">
              <a:lnSpc>
                <a:spcPct val="128000"/>
              </a:lnSpc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Eredua models/ karpetan jarri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scoring-api-k automatikoki kargatzen du</a:t>
            </a:r>
            <a:endParaRPr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>
                <a:solidFill>
                  <a:srgbClr val="1A1A1A"/>
                </a:solidFill>
                <a:latin typeface="Arial"/>
              </a:rPr>
              <a:t>scoring-api probatu: POST /predict sentsore-balioekin eta erantzuna egiaztatu</a:t>
            </a:r>
            <a:endParaRPr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>
                <a:solidFill>
                  <a:srgbClr val="1A1A1A"/>
                </a:solidFill>
                <a:latin typeface="Arial"/>
              </a:rPr>
              <a:t>NiFi flow-a osatu: sentsore-datuak → scoring-api → Elasticsearch</a:t>
            </a:r>
            <a:endParaRPr/>
          </a:p>
        </p:txBody>
      </p:sp>
      <p:sp>
        <p:nvSpPr>
          <p:cNvPr id="1551251050" name="TextBox 6"/>
          <p:cNvSpPr txBox="1"/>
          <p:nvPr/>
        </p:nvSpPr>
        <p:spPr bwMode="auto">
          <a:xfrm>
            <a:off x="9525000" y="3429000"/>
            <a:ext cx="7810500" cy="506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19100" indent="-342900" algn="l">
              <a:lnSpc>
                <a:spcPct val="128000"/>
              </a:lnSpc>
              <a:buClr>
                <a:srgbClr val="A02834"/>
              </a:buClr>
              <a:buFont typeface="Arial"/>
              <a:buChar char="■"/>
              <a:defRPr/>
            </a:pPr>
            <a:r>
              <a:rPr sz="1950">
                <a:solidFill>
                  <a:srgbClr val="1A1A1A"/>
                </a:solidFill>
                <a:latin typeface="Arial"/>
              </a:rPr>
              <a:t>Kibana-n alerta bat konfiguratu: hutsegite-probabilitatea &gt; atalasea</a:t>
            </a:r>
            <a:endParaRPr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>
                <a:solidFill>
                  <a:srgbClr val="1A1A1A"/>
                </a:solidFill>
                <a:latin typeface="Arial"/>
              </a:rPr>
              <a:t>Sistemaren amaierako proba: simuladorea → Filebeat → ... → scoring → Kibana alerta</a:t>
            </a:r>
            <a:endParaRPr/>
          </a:p>
        </p:txBody>
      </p:sp>
      <p:sp>
        <p:nvSpPr>
          <p:cNvPr id="2074379356" name="Rectangle 7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7733327" name="Connector 8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6965930" name="TextBox 9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155113265" name="Picture 10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1979295466" name="Picture 11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1855139835" name="Picture 12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1754118911" name="Picture 13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1047079806" name="TextBox 14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18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675810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5537544" name="Rectangle 2"/>
          <p:cNvSpPr/>
          <p:nvPr/>
        </p:nvSpPr>
        <p:spPr bwMode="auto">
          <a:xfrm>
            <a:off x="952500" y="1066800"/>
            <a:ext cx="6429375" cy="476250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2268396" name="TextBox 3"/>
          <p:cNvSpPr txBox="1"/>
          <p:nvPr/>
        </p:nvSpPr>
        <p:spPr bwMode="auto">
          <a:xfrm>
            <a:off x="1143000" y="1123950"/>
            <a:ext cx="60483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180">
                <a:solidFill>
                  <a:srgbClr val="FFFFFF"/>
                </a:solidFill>
                <a:latin typeface="Courier New"/>
              </a:rPr>
              <a:t>ARIKETA · 03     aste 0.5 · taldeka</a:t>
            </a:r>
            <a:endParaRPr/>
          </a:p>
        </p:txBody>
      </p:sp>
      <p:sp>
        <p:nvSpPr>
          <p:cNvPr id="460435413" name="TextBox 4"/>
          <p:cNvSpPr txBox="1"/>
          <p:nvPr/>
        </p:nvSpPr>
        <p:spPr bwMode="auto">
          <a:xfrm>
            <a:off x="952500" y="1866900"/>
            <a:ext cx="1638300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5400">
                <a:solidFill>
                  <a:srgbClr val="1A1A1A"/>
                </a:solidFill>
                <a:latin typeface="Georgia"/>
              </a:rPr>
              <a:t>3. Faseko pentsatzeko galderak</a:t>
            </a:r>
            <a:endParaRPr/>
          </a:p>
        </p:txBody>
      </p:sp>
      <p:sp>
        <p:nvSpPr>
          <p:cNvPr id="723477914" name="TextBox 5"/>
          <p:cNvSpPr txBox="1"/>
          <p:nvPr/>
        </p:nvSpPr>
        <p:spPr bwMode="auto">
          <a:xfrm>
            <a:off x="952500" y="4191000"/>
            <a:ext cx="3810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180">
                <a:solidFill>
                  <a:srgbClr val="6B6B6B"/>
                </a:solidFill>
                <a:latin typeface="Courier New"/>
              </a:rPr>
              <a:t>EGOERA</a:t>
            </a:r>
            <a:endParaRPr/>
          </a:p>
        </p:txBody>
      </p:sp>
      <p:sp>
        <p:nvSpPr>
          <p:cNvPr id="2104632484" name="TextBox 6"/>
          <p:cNvSpPr txBox="1"/>
          <p:nvPr/>
        </p:nvSpPr>
        <p:spPr bwMode="auto">
          <a:xfrm>
            <a:off x="952500" y="4648200"/>
            <a:ext cx="8222343" cy="38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sz="2250">
                <a:solidFill>
                  <a:srgbClr val="3A3A3A"/>
                </a:solidFill>
                <a:latin typeface="Arial"/>
              </a:rPr>
              <a:t>Eredu bat ekoizpenean jartzea ez da soilik API bat sortzea. Monitorizazioa, bertsio-kudeaketa eta feedback begiztak dira ML sistema errealen oinarria.</a:t>
            </a:r>
            <a:endParaRPr/>
          </a:p>
        </p:txBody>
      </p:sp>
      <p:sp>
        <p:nvSpPr>
          <p:cNvPr id="1274949902" name="TextBox 7"/>
          <p:cNvSpPr txBox="1"/>
          <p:nvPr/>
        </p:nvSpPr>
        <p:spPr bwMode="auto">
          <a:xfrm>
            <a:off x="9860643" y="4191000"/>
            <a:ext cx="3810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180">
                <a:solidFill>
                  <a:srgbClr val="6B6B6B"/>
                </a:solidFill>
                <a:latin typeface="Courier New"/>
              </a:rPr>
              <a:t>EGINKIZUNAK</a:t>
            </a:r>
            <a:endParaRPr/>
          </a:p>
        </p:txBody>
      </p:sp>
      <p:sp>
        <p:nvSpPr>
          <p:cNvPr id="337741155" name="TextBox 8"/>
          <p:cNvSpPr txBox="1"/>
          <p:nvPr/>
        </p:nvSpPr>
        <p:spPr bwMode="auto">
          <a:xfrm>
            <a:off x="9860643" y="4648200"/>
            <a:ext cx="7474857" cy="419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19100" indent="-342900" algn="l">
              <a:lnSpc>
                <a:spcPct val="128000"/>
              </a:lnSpc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G9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scoring-api-ra sentsore-datu okerrak iristen badira, zer gertatzen da?</a:t>
            </a:r>
            <a:endParaRPr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G10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Eredua hilabete barru berriz entrenatu beharko bagenu, nola egingo zenuke?</a:t>
            </a:r>
            <a:endParaRPr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G11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Zer da feedback begizta bat eta zergatik da garrantzitsua?</a:t>
            </a:r>
            <a:endParaRPr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G12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Nola dakizu ereduak ondo funtzionatzen duela ekoizpenean?</a:t>
            </a:r>
            <a:endParaRPr/>
          </a:p>
        </p:txBody>
      </p:sp>
      <p:sp>
        <p:nvSpPr>
          <p:cNvPr id="53545535" name="Rectangle 9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751941754" name="Connector 10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4107410" name="TextBox 11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580183948" name="Picture 12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144207592" name="Picture 13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1615338754" name="Picture 14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1293267877" name="Picture 15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1357254164" name="TextBox 16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19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897311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3769637" name="TextBox 2"/>
          <p:cNvSpPr txBox="1"/>
          <p:nvPr/>
        </p:nvSpPr>
        <p:spPr bwMode="auto">
          <a:xfrm>
            <a:off x="952500" y="1219200"/>
            <a:ext cx="762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EBALUAZIOA</a:t>
            </a:r>
            <a:endParaRPr/>
          </a:p>
        </p:txBody>
      </p:sp>
      <p:sp>
        <p:nvSpPr>
          <p:cNvPr id="350074481" name="TextBox 3"/>
          <p:cNvSpPr txBox="1"/>
          <p:nvPr/>
        </p:nvSpPr>
        <p:spPr bwMode="auto">
          <a:xfrm>
            <a:off x="952500" y="3429000"/>
            <a:ext cx="8572500" cy="30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defRPr/>
            </a:pPr>
            <a:r>
              <a:rPr sz="21000">
                <a:solidFill>
                  <a:srgbClr val="A02834"/>
                </a:solidFill>
                <a:latin typeface="Georgia"/>
              </a:rPr>
              <a:t>3</a:t>
            </a:r>
            <a:r>
              <a:rPr sz="9000">
                <a:solidFill>
                  <a:srgbClr val="1A1A1A"/>
                </a:solidFill>
                <a:latin typeface="Georgia"/>
              </a:rPr>
              <a:t> fase</a:t>
            </a:r>
            <a:endParaRPr/>
          </a:p>
        </p:txBody>
      </p:sp>
      <p:sp>
        <p:nvSpPr>
          <p:cNvPr id="734470703" name="TextBox 4"/>
          <p:cNvSpPr txBox="1"/>
          <p:nvPr/>
        </p:nvSpPr>
        <p:spPr bwMode="auto">
          <a:xfrm>
            <a:off x="952500" y="6667500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defRPr/>
            </a:pPr>
            <a:r>
              <a:rPr sz="2250">
                <a:solidFill>
                  <a:srgbClr val="3A3A3A"/>
                </a:solidFill>
                <a:latin typeface="Arial"/>
              </a:rPr>
              <a:t>Pisu banaketarekin</a:t>
            </a:r>
            <a:endParaRPr/>
          </a:p>
        </p:txBody>
      </p:sp>
      <p:sp>
        <p:nvSpPr>
          <p:cNvPr id="2032631758" name="TextBox 5"/>
          <p:cNvSpPr txBox="1"/>
          <p:nvPr/>
        </p:nvSpPr>
        <p:spPr bwMode="auto">
          <a:xfrm>
            <a:off x="10477500" y="4000500"/>
            <a:ext cx="685800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4200">
                <a:solidFill>
                  <a:srgbClr val="1A1A1A"/>
                </a:solidFill>
                <a:latin typeface="Georgia"/>
              </a:rPr>
              <a:t>Ebaluazio orokorra</a:t>
            </a:r>
            <a:endParaRPr/>
          </a:p>
        </p:txBody>
      </p:sp>
      <p:sp>
        <p:nvSpPr>
          <p:cNvPr id="916459646" name="TextBox 6"/>
          <p:cNvSpPr txBox="1"/>
          <p:nvPr/>
        </p:nvSpPr>
        <p:spPr bwMode="auto">
          <a:xfrm>
            <a:off x="10477500" y="5715000"/>
            <a:ext cx="6858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sz="2250">
                <a:solidFill>
                  <a:srgbClr val="3A3A3A"/>
                </a:solidFill>
                <a:latin typeface="Arial"/>
              </a:rPr>
              <a:t>1. fasea (datu-bilketa): %35  |  2. fasea (ML entrenamendua): %40  |  3. fasea (ekoizpena): %20  |  AI agenteen erabilera: %5  |  Puntuazio gehigarria: feature engineering sortzailea, SMOTE erabilera justifikatua, scoring-api proba automatizatuak (+5 bakoitza).</a:t>
            </a:r>
            <a:endParaRPr/>
          </a:p>
        </p:txBody>
      </p:sp>
      <p:sp>
        <p:nvSpPr>
          <p:cNvPr id="2066717907" name="TextBox 7"/>
          <p:cNvSpPr txBox="1"/>
          <p:nvPr/>
        </p:nvSpPr>
        <p:spPr bwMode="auto">
          <a:xfrm>
            <a:off x="10477500" y="7810500"/>
            <a:ext cx="6858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>
                <a:solidFill>
                  <a:srgbClr val="6B6B6B"/>
                </a:solidFill>
                <a:latin typeface="Arial"/>
              </a:rPr>
              <a:t>IABD · 5071, 5072, 5073, 5074, 5075</a:t>
            </a:r>
            <a:endParaRPr/>
          </a:p>
        </p:txBody>
      </p:sp>
      <p:sp>
        <p:nvSpPr>
          <p:cNvPr id="2106568551" name="Rectangle 8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436337797" name="Connector 9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2122868" name="TextBox 10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1776864090" name="Picture 11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31843984" name="Picture 12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1600617199" name="Picture 13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168815022" name="Picture 14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923181851" name="TextBox 15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20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688601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2411274" name="Rectangle 2"/>
          <p:cNvSpPr/>
          <p:nvPr/>
        </p:nvSpPr>
        <p:spPr bwMode="auto">
          <a:xfrm>
            <a:off x="952500" y="1047750"/>
            <a:ext cx="381000" cy="28575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0544389" name="TextBox 3"/>
          <p:cNvSpPr txBox="1"/>
          <p:nvPr/>
        </p:nvSpPr>
        <p:spPr bwMode="auto">
          <a:xfrm>
            <a:off x="1466849" y="914400"/>
            <a:ext cx="571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ENTREGABLEA</a:t>
            </a:r>
            <a:endParaRPr/>
          </a:p>
        </p:txBody>
      </p:sp>
      <p:sp>
        <p:nvSpPr>
          <p:cNvPr id="168338584" name="TextBox 4"/>
          <p:cNvSpPr txBox="1"/>
          <p:nvPr/>
        </p:nvSpPr>
        <p:spPr bwMode="auto">
          <a:xfrm>
            <a:off x="952500" y="1485900"/>
            <a:ext cx="16383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5400">
                <a:solidFill>
                  <a:srgbClr val="1A1A1A"/>
                </a:solidFill>
                <a:latin typeface="Georgia"/>
              </a:rPr>
              <a:t>Entregable orokorra</a:t>
            </a:r>
            <a:endParaRPr/>
          </a:p>
        </p:txBody>
      </p:sp>
      <p:sp>
        <p:nvSpPr>
          <p:cNvPr id="1830552419" name="TextBox 5"/>
          <p:cNvSpPr txBox="1"/>
          <p:nvPr/>
        </p:nvSpPr>
        <p:spPr bwMode="auto">
          <a:xfrm>
            <a:off x="952500" y="3429000"/>
            <a:ext cx="7810500" cy="506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19100" indent="-342900" algn="l">
              <a:lnSpc>
                <a:spcPct val="128000"/>
              </a:lnSpc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README.md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Proiektuaren azalpena eta abiarazteko gida</a:t>
            </a:r>
            <a:endParaRPr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filebeat/filebeat.yml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Filebeat konfigurazio funtzionala</a:t>
            </a:r>
            <a:endParaRPr/>
          </a:p>
          <a:p>
            <a:pPr marL="419100" indent="-342900" algn="l">
              <a:lnSpc>
                <a:spcPct val="128000"/>
              </a:lnSpc>
              <a:spcBef>
                <a:spcPts val="14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1950" b="1">
                <a:solidFill>
                  <a:srgbClr val="1A1A1A"/>
                </a:solidFill>
                <a:latin typeface="Arial"/>
              </a:rPr>
              <a:t>nifi-flows/</a:t>
            </a:r>
            <a:r>
              <a:rPr sz="1950">
                <a:solidFill>
                  <a:srgbClr val="3A3A3A"/>
                </a:solidFill>
                <a:latin typeface="Arial"/>
              </a:rPr>
              <a:t> — </a:t>
            </a:r>
            <a:r>
              <a:rPr sz="1800">
                <a:solidFill>
                  <a:srgbClr val="3A3A3A"/>
                </a:solidFill>
                <a:latin typeface="Arial"/>
              </a:rPr>
              <a:t>NiFi flow esportatua (bi fase: datu-bilketa eta scoring)</a:t>
            </a:r>
            <a:endParaRPr/>
          </a:p>
        </p:txBody>
      </p:sp>
      <p:sp>
        <p:nvSpPr>
          <p:cNvPr id="1918470224" name="TextBox 6"/>
          <p:cNvSpPr txBox="1"/>
          <p:nvPr/>
        </p:nvSpPr>
        <p:spPr bwMode="auto">
          <a:xfrm>
            <a:off x="9525000" y="3429000"/>
            <a:ext cx="7810500" cy="506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19100" indent="-342900" algn="l">
              <a:lnSpc>
                <a:spcPct val="135000"/>
              </a:lnSpc>
              <a:buClr>
                <a:srgbClr val="A02834"/>
              </a:buClr>
              <a:buFont typeface="Arial"/>
              <a:buChar char="■"/>
              <a:defRPr/>
            </a:pPr>
            <a:r>
              <a:rPr sz="2250" b="1">
                <a:solidFill>
                  <a:srgbClr val="1A1A1A"/>
                </a:solidFill>
                <a:latin typeface="Arial"/>
              </a:rPr>
              <a:t>notebooks/02_training.ipynb</a:t>
            </a:r>
            <a:r>
              <a:rPr sz="2250">
                <a:solidFill>
                  <a:srgbClr val="3A3A3A"/>
                </a:solidFill>
                <a:latin typeface="Arial"/>
              </a:rPr>
              <a:t> — </a:t>
            </a:r>
            <a:r>
              <a:rPr sz="2100">
                <a:solidFill>
                  <a:srgbClr val="3A3A3A"/>
                </a:solidFill>
                <a:latin typeface="Arial"/>
              </a:rPr>
              <a:t>Notebook osatua eta dokumentatua</a:t>
            </a:r>
            <a:endParaRPr/>
          </a:p>
          <a:p>
            <a:pPr marL="419100" indent="-342900" algn="l">
              <a:lnSpc>
                <a:spcPct val="135000"/>
              </a:lnSpc>
              <a:spcBef>
                <a:spcPts val="18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2250" b="1">
                <a:solidFill>
                  <a:srgbClr val="1A1A1A"/>
                </a:solidFill>
                <a:latin typeface="Arial"/>
              </a:rPr>
              <a:t>models/cnc_failure_model.pkl</a:t>
            </a:r>
            <a:r>
              <a:rPr sz="2250">
                <a:solidFill>
                  <a:srgbClr val="3A3A3A"/>
                </a:solidFill>
                <a:latin typeface="Arial"/>
              </a:rPr>
              <a:t> — </a:t>
            </a:r>
            <a:r>
              <a:rPr sz="2100">
                <a:solidFill>
                  <a:srgbClr val="3A3A3A"/>
                </a:solidFill>
                <a:latin typeface="Arial"/>
              </a:rPr>
              <a:t>Eredu entrenatua</a:t>
            </a:r>
            <a:endParaRPr/>
          </a:p>
          <a:p>
            <a:pPr marL="419100" indent="-342900" algn="l">
              <a:lnSpc>
                <a:spcPct val="135000"/>
              </a:lnSpc>
              <a:spcBef>
                <a:spcPts val="1800"/>
              </a:spcBef>
              <a:buClr>
                <a:srgbClr val="A02834"/>
              </a:buClr>
              <a:buFont typeface="Arial"/>
              <a:buChar char="■"/>
              <a:defRPr/>
            </a:pPr>
            <a:r>
              <a:rPr sz="2250">
                <a:solidFill>
                  <a:srgbClr val="1A1A1A"/>
                </a:solidFill>
                <a:latin typeface="Arial"/>
              </a:rPr>
              <a:t>Kibana dashboard-aren screenshot-ak eta esportatutako JSON-a</a:t>
            </a:r>
            <a:endParaRPr/>
          </a:p>
        </p:txBody>
      </p:sp>
      <p:sp>
        <p:nvSpPr>
          <p:cNvPr id="697813265" name="Rectangle 7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6244174" name="Connector 8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0432608" name="TextBox 9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101166440" name="Picture 10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2079508186" name="Picture 11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1072330184" name="Picture 12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1972521930" name="Picture 13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1600335658" name="TextBox 14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21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37657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2996502" name="Rectangle 2"/>
          <p:cNvSpPr/>
          <p:nvPr/>
        </p:nvSpPr>
        <p:spPr bwMode="auto">
          <a:xfrm>
            <a:off x="952500" y="1047750"/>
            <a:ext cx="381000" cy="28575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1435108" name="TextBox 3"/>
          <p:cNvSpPr txBox="1"/>
          <p:nvPr/>
        </p:nvSpPr>
        <p:spPr bwMode="auto">
          <a:xfrm>
            <a:off x="1466849" y="914400"/>
            <a:ext cx="571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LABURPENA</a:t>
            </a:r>
            <a:endParaRPr/>
          </a:p>
        </p:txBody>
      </p:sp>
      <p:sp>
        <p:nvSpPr>
          <p:cNvPr id="778026091" name="TextBox 4"/>
          <p:cNvSpPr txBox="1"/>
          <p:nvPr/>
        </p:nvSpPr>
        <p:spPr bwMode="auto">
          <a:xfrm>
            <a:off x="952500" y="1485900"/>
            <a:ext cx="16383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5400">
                <a:solidFill>
                  <a:srgbClr val="1A1A1A"/>
                </a:solidFill>
                <a:latin typeface="Georgia"/>
              </a:rPr>
              <a:t>Erronka honetan ikasiko duzuena</a:t>
            </a:r>
            <a:endParaRPr/>
          </a:p>
        </p:txBody>
      </p:sp>
      <p:cxnSp>
        <p:nvCxnSpPr>
          <p:cNvPr id="1104927560" name="Connector 5"/>
          <p:cNvCxnSpPr/>
          <p:nvPr/>
        </p:nvCxnSpPr>
        <p:spPr bwMode="auto">
          <a:xfrm>
            <a:off x="952500" y="3571875"/>
            <a:ext cx="142875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8691271" name="TextBox 6"/>
          <p:cNvSpPr txBox="1"/>
          <p:nvPr/>
        </p:nvSpPr>
        <p:spPr bwMode="auto">
          <a:xfrm>
            <a:off x="952500" y="3743325"/>
            <a:ext cx="914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600" i="1">
                <a:solidFill>
                  <a:srgbClr val="A02834"/>
                </a:solidFill>
                <a:latin typeface="Georgia"/>
              </a:rPr>
              <a:t>i</a:t>
            </a:r>
            <a:endParaRPr/>
          </a:p>
        </p:txBody>
      </p:sp>
      <p:sp>
        <p:nvSpPr>
          <p:cNvPr id="738761600" name="TextBox 7"/>
          <p:cNvSpPr txBox="1"/>
          <p:nvPr/>
        </p:nvSpPr>
        <p:spPr bwMode="auto">
          <a:xfrm>
            <a:off x="2171700" y="3838575"/>
            <a:ext cx="130683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sz="1800">
                <a:solidFill>
                  <a:srgbClr val="3A3A3A"/>
                </a:solidFill>
                <a:latin typeface="Arial"/>
              </a:rPr>
              <a:t>Sentsore-datuak denbora errealean biltzen Filebeat + Kafka + NiFi erabiliz.</a:t>
            </a:r>
            <a:endParaRPr/>
          </a:p>
        </p:txBody>
      </p:sp>
      <p:cxnSp>
        <p:nvCxnSpPr>
          <p:cNvPr id="1800159498" name="Connector 8"/>
          <p:cNvCxnSpPr/>
          <p:nvPr/>
        </p:nvCxnSpPr>
        <p:spPr bwMode="auto">
          <a:xfrm>
            <a:off x="952500" y="4448175"/>
            <a:ext cx="142875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631442" name="TextBox 9"/>
          <p:cNvSpPr txBox="1"/>
          <p:nvPr/>
        </p:nvSpPr>
        <p:spPr bwMode="auto">
          <a:xfrm>
            <a:off x="952500" y="4619625"/>
            <a:ext cx="914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600" i="1">
                <a:solidFill>
                  <a:srgbClr val="A02834"/>
                </a:solidFill>
                <a:latin typeface="Georgia"/>
              </a:rPr>
              <a:t>ii</a:t>
            </a:r>
            <a:endParaRPr/>
          </a:p>
        </p:txBody>
      </p:sp>
      <p:sp>
        <p:nvSpPr>
          <p:cNvPr id="2132183934" name="TextBox 10"/>
          <p:cNvSpPr txBox="1"/>
          <p:nvPr/>
        </p:nvSpPr>
        <p:spPr bwMode="auto">
          <a:xfrm>
            <a:off x="2171700" y="4714875"/>
            <a:ext cx="130683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sz="1800">
                <a:solidFill>
                  <a:srgbClr val="3A3A3A"/>
                </a:solidFill>
                <a:latin typeface="Arial"/>
              </a:rPr>
              <a:t>Datu industrialak Elasticsearch-en indexatzen eta Kibana-n bistaratzen.</a:t>
            </a:r>
            <a:endParaRPr/>
          </a:p>
        </p:txBody>
      </p:sp>
      <p:cxnSp>
        <p:nvCxnSpPr>
          <p:cNvPr id="139139050" name="Connector 11"/>
          <p:cNvCxnSpPr/>
          <p:nvPr/>
        </p:nvCxnSpPr>
        <p:spPr bwMode="auto">
          <a:xfrm>
            <a:off x="952500" y="5324475"/>
            <a:ext cx="142875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034261" name="TextBox 12"/>
          <p:cNvSpPr txBox="1"/>
          <p:nvPr/>
        </p:nvSpPr>
        <p:spPr bwMode="auto">
          <a:xfrm>
            <a:off x="952500" y="5495925"/>
            <a:ext cx="914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600" i="1">
                <a:solidFill>
                  <a:srgbClr val="A02834"/>
                </a:solidFill>
                <a:latin typeface="Georgia"/>
              </a:rPr>
              <a:t>iii</a:t>
            </a:r>
            <a:endParaRPr/>
          </a:p>
        </p:txBody>
      </p:sp>
      <p:sp>
        <p:nvSpPr>
          <p:cNvPr id="1934290943" name="TextBox 13"/>
          <p:cNvSpPr txBox="1"/>
          <p:nvPr/>
        </p:nvSpPr>
        <p:spPr bwMode="auto">
          <a:xfrm>
            <a:off x="2171700" y="5591175"/>
            <a:ext cx="130683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sz="1800">
                <a:solidFill>
                  <a:srgbClr val="3A3A3A"/>
                </a:solidFill>
                <a:latin typeface="Arial"/>
              </a:rPr>
              <a:t>Klase-inoreka duen ML eredu bat entrenatzen eta ebaluatzen (recall vs precision).</a:t>
            </a:r>
            <a:endParaRPr/>
          </a:p>
        </p:txBody>
      </p:sp>
      <p:cxnSp>
        <p:nvCxnSpPr>
          <p:cNvPr id="2011234684" name="Connector 14"/>
          <p:cNvCxnSpPr/>
          <p:nvPr/>
        </p:nvCxnSpPr>
        <p:spPr bwMode="auto">
          <a:xfrm>
            <a:off x="952500" y="6200775"/>
            <a:ext cx="142875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960639" name="TextBox 15"/>
          <p:cNvSpPr txBox="1"/>
          <p:nvPr/>
        </p:nvSpPr>
        <p:spPr bwMode="auto">
          <a:xfrm>
            <a:off x="952500" y="6372225"/>
            <a:ext cx="914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600" i="1">
                <a:solidFill>
                  <a:srgbClr val="A02834"/>
                </a:solidFill>
                <a:latin typeface="Georgia"/>
              </a:rPr>
              <a:t>iv</a:t>
            </a:r>
            <a:endParaRPr/>
          </a:p>
        </p:txBody>
      </p:sp>
      <p:sp>
        <p:nvSpPr>
          <p:cNvPr id="854804308" name="TextBox 16"/>
          <p:cNvSpPr txBox="1"/>
          <p:nvPr/>
        </p:nvSpPr>
        <p:spPr bwMode="auto">
          <a:xfrm>
            <a:off x="2171700" y="6467475"/>
            <a:ext cx="130683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sz="1800">
                <a:solidFill>
                  <a:srgbClr val="3A3A3A"/>
                </a:solidFill>
                <a:latin typeface="Arial"/>
              </a:rPr>
              <a:t>Eredu bat FastAPI scoring-api bidez ekoizpenean jartzen.</a:t>
            </a:r>
            <a:endParaRPr/>
          </a:p>
        </p:txBody>
      </p:sp>
      <p:cxnSp>
        <p:nvCxnSpPr>
          <p:cNvPr id="1413370442" name="Connector 17"/>
          <p:cNvCxnSpPr/>
          <p:nvPr/>
        </p:nvCxnSpPr>
        <p:spPr bwMode="auto">
          <a:xfrm>
            <a:off x="952500" y="7077075"/>
            <a:ext cx="142875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0446241" name="TextBox 18"/>
          <p:cNvSpPr txBox="1"/>
          <p:nvPr/>
        </p:nvSpPr>
        <p:spPr bwMode="auto">
          <a:xfrm>
            <a:off x="952500" y="7248525"/>
            <a:ext cx="914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600" i="1">
                <a:solidFill>
                  <a:srgbClr val="A02834"/>
                </a:solidFill>
                <a:latin typeface="Georgia"/>
              </a:rPr>
              <a:t>v</a:t>
            </a:r>
            <a:endParaRPr/>
          </a:p>
        </p:txBody>
      </p:sp>
      <p:sp>
        <p:nvSpPr>
          <p:cNvPr id="1361985847" name="TextBox 19"/>
          <p:cNvSpPr txBox="1"/>
          <p:nvPr/>
        </p:nvSpPr>
        <p:spPr bwMode="auto">
          <a:xfrm>
            <a:off x="2171700" y="7343775"/>
            <a:ext cx="130683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sz="1800">
                <a:solidFill>
                  <a:srgbClr val="3A3A3A"/>
                </a:solidFill>
                <a:latin typeface="Arial"/>
              </a:rPr>
              <a:t>Kibana alertak konfiguratzen denbora errealeko hutsegite-detekziorako.</a:t>
            </a:r>
            <a:endParaRPr/>
          </a:p>
        </p:txBody>
      </p:sp>
      <p:cxnSp>
        <p:nvCxnSpPr>
          <p:cNvPr id="478505822" name="Connector 20"/>
          <p:cNvCxnSpPr/>
          <p:nvPr/>
        </p:nvCxnSpPr>
        <p:spPr bwMode="auto">
          <a:xfrm>
            <a:off x="952500" y="7953375"/>
            <a:ext cx="142875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6827508" name="TextBox 21"/>
          <p:cNvSpPr txBox="1"/>
          <p:nvPr/>
        </p:nvSpPr>
        <p:spPr bwMode="auto">
          <a:xfrm>
            <a:off x="952500" y="8124825"/>
            <a:ext cx="914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600" i="1">
                <a:solidFill>
                  <a:srgbClr val="A02834"/>
                </a:solidFill>
                <a:latin typeface="Georgia"/>
              </a:rPr>
              <a:t>vi</a:t>
            </a:r>
            <a:endParaRPr/>
          </a:p>
        </p:txBody>
      </p:sp>
      <p:sp>
        <p:nvSpPr>
          <p:cNvPr id="641566958" name="TextBox 22"/>
          <p:cNvSpPr txBox="1"/>
          <p:nvPr/>
        </p:nvSpPr>
        <p:spPr bwMode="auto">
          <a:xfrm>
            <a:off x="2171700" y="8220075"/>
            <a:ext cx="130683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sz="1800">
                <a:solidFill>
                  <a:srgbClr val="3A3A3A"/>
                </a:solidFill>
                <a:latin typeface="Arial"/>
              </a:rPr>
              <a:t>Industria 4.0 eta mantentze prediktiboaren oinarriak ulertzen.</a:t>
            </a:r>
            <a:endParaRPr/>
          </a:p>
        </p:txBody>
      </p:sp>
      <p:sp>
        <p:nvSpPr>
          <p:cNvPr id="2063106277" name="Rectangle 23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6552524" name="Connector 24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7395780" name="TextBox 25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1476904567" name="Picture 26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541109088" name="Picture 27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224082837" name="Picture 28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483344174" name="Picture 29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1688715450" name="TextBox 30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22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076876" name="Rectangle 1"/>
          <p:cNvSpPr/>
          <p:nvPr/>
        </p:nvSpPr>
        <p:spPr bwMode="auto">
          <a:xfrm>
            <a:off x="0" y="-47136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9910702" name="Rectangle 2"/>
          <p:cNvSpPr/>
          <p:nvPr/>
        </p:nvSpPr>
        <p:spPr bwMode="auto">
          <a:xfrm>
            <a:off x="952500" y="1047750"/>
            <a:ext cx="381000" cy="28575"/>
          </a:xfrm>
          <a:prstGeom prst="rect">
            <a:avLst/>
          </a:prstGeom>
          <a:solidFill>
            <a:srgbClr val="A0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4513388" name="TextBox 3"/>
          <p:cNvSpPr txBox="1"/>
          <p:nvPr/>
        </p:nvSpPr>
        <p:spPr bwMode="auto">
          <a:xfrm>
            <a:off x="1466849" y="914400"/>
            <a:ext cx="571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AMAIERAKO DEFENTSA</a:t>
            </a:r>
            <a:endParaRPr/>
          </a:p>
        </p:txBody>
      </p:sp>
      <p:sp>
        <p:nvSpPr>
          <p:cNvPr id="1071007161" name="TextBox 4"/>
          <p:cNvSpPr txBox="1"/>
          <p:nvPr/>
        </p:nvSpPr>
        <p:spPr bwMode="auto">
          <a:xfrm>
            <a:off x="952500" y="1485900"/>
            <a:ext cx="16383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5400">
                <a:solidFill>
                  <a:srgbClr val="1A1A1A"/>
                </a:solidFill>
                <a:latin typeface="Georgia"/>
              </a:rPr>
              <a:t>Demo aurkezpena — 10 minutu</a:t>
            </a:r>
            <a:endParaRPr/>
          </a:p>
        </p:txBody>
      </p:sp>
      <p:sp>
        <p:nvSpPr>
          <p:cNvPr id="91605760" name="TextBox 5"/>
          <p:cNvSpPr txBox="1"/>
          <p:nvPr/>
        </p:nvSpPr>
        <p:spPr bwMode="auto">
          <a:xfrm>
            <a:off x="952499" y="2085730"/>
            <a:ext cx="952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800">
                <a:solidFill>
                  <a:srgbClr val="A02834"/>
                </a:solidFill>
                <a:latin typeface="Georgia"/>
              </a:rPr>
              <a:t>01</a:t>
            </a:r>
            <a:endParaRPr/>
          </a:p>
        </p:txBody>
      </p:sp>
      <p:sp>
        <p:nvSpPr>
          <p:cNvPr id="1205214005" name="TextBox 6"/>
          <p:cNvSpPr txBox="1"/>
          <p:nvPr/>
        </p:nvSpPr>
        <p:spPr bwMode="auto">
          <a:xfrm>
            <a:off x="1904999" y="2161929"/>
            <a:ext cx="13335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2550" b="1">
                <a:solidFill>
                  <a:srgbClr val="1A1A1A"/>
                </a:solidFill>
                <a:latin typeface="Arial"/>
              </a:rPr>
              <a:t>Live demo (2 min) — Simuladorearen datuak Kibana-n erakutsi</a:t>
            </a:r>
            <a:endParaRPr/>
          </a:p>
        </p:txBody>
      </p:sp>
      <p:sp>
        <p:nvSpPr>
          <p:cNvPr id="1613793744" name="TextBox 7"/>
          <p:cNvSpPr txBox="1"/>
          <p:nvPr/>
        </p:nvSpPr>
        <p:spPr bwMode="auto">
          <a:xfrm>
            <a:off x="1904999" y="2638180"/>
            <a:ext cx="1333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defRPr/>
            </a:pPr>
            <a:r>
              <a:rPr sz="2100">
                <a:solidFill>
                  <a:srgbClr val="3A3A3A"/>
                </a:solidFill>
                <a:latin typeface="Arial"/>
              </a:rPr>
              <a:t>Dena martxan: Filebeat → Kafka → NiFi → ES → Kibana. Erakutsi datuak sartzen ari direla.</a:t>
            </a:r>
            <a:endParaRPr/>
          </a:p>
        </p:txBody>
      </p:sp>
      <p:sp>
        <p:nvSpPr>
          <p:cNvPr id="977977029" name="TextBox 8"/>
          <p:cNvSpPr txBox="1"/>
          <p:nvPr/>
        </p:nvSpPr>
        <p:spPr bwMode="auto">
          <a:xfrm>
            <a:off x="952499" y="3311768"/>
            <a:ext cx="952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800">
                <a:solidFill>
                  <a:srgbClr val="A02834"/>
                </a:solidFill>
                <a:latin typeface="Georgia"/>
              </a:rPr>
              <a:t>02</a:t>
            </a:r>
            <a:endParaRPr/>
          </a:p>
        </p:txBody>
      </p:sp>
      <p:sp>
        <p:nvSpPr>
          <p:cNvPr id="946827916" name="TextBox 9"/>
          <p:cNvSpPr txBox="1"/>
          <p:nvPr/>
        </p:nvSpPr>
        <p:spPr bwMode="auto">
          <a:xfrm>
            <a:off x="1904999" y="3387968"/>
            <a:ext cx="13335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2550" b="1">
                <a:solidFill>
                  <a:srgbClr val="1A1A1A"/>
                </a:solidFill>
                <a:latin typeface="Arial"/>
              </a:rPr>
              <a:t>1. Fasea (2 min) — Filebeat konfigurazioa eta NiFi flow-a</a:t>
            </a:r>
            <a:endParaRPr/>
          </a:p>
        </p:txBody>
      </p:sp>
      <p:sp>
        <p:nvSpPr>
          <p:cNvPr id="669376322" name="TextBox 10"/>
          <p:cNvSpPr txBox="1"/>
          <p:nvPr/>
        </p:nvSpPr>
        <p:spPr bwMode="auto">
          <a:xfrm>
            <a:off x="1904999" y="3864219"/>
            <a:ext cx="1333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defRPr/>
            </a:pPr>
            <a:r>
              <a:rPr sz="2100">
                <a:solidFill>
                  <a:srgbClr val="3A3A3A"/>
                </a:solidFill>
                <a:latin typeface="Arial"/>
              </a:rPr>
              <a:t>Azaldu Filebeat-en konfigurazioaren gakoak eta NiFi flow-aren diseinua.</a:t>
            </a:r>
            <a:endParaRPr/>
          </a:p>
        </p:txBody>
      </p:sp>
      <p:sp>
        <p:nvSpPr>
          <p:cNvPr id="1928206225" name="TextBox 11"/>
          <p:cNvSpPr txBox="1"/>
          <p:nvPr/>
        </p:nvSpPr>
        <p:spPr bwMode="auto">
          <a:xfrm>
            <a:off x="952499" y="4782038"/>
            <a:ext cx="952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800">
                <a:solidFill>
                  <a:srgbClr val="A02834"/>
                </a:solidFill>
                <a:latin typeface="Georgia"/>
              </a:rPr>
              <a:t>03</a:t>
            </a:r>
            <a:endParaRPr/>
          </a:p>
        </p:txBody>
      </p:sp>
      <p:sp>
        <p:nvSpPr>
          <p:cNvPr id="1285045051" name="TextBox 12"/>
          <p:cNvSpPr txBox="1"/>
          <p:nvPr/>
        </p:nvSpPr>
        <p:spPr bwMode="auto">
          <a:xfrm>
            <a:off x="1904999" y="4858238"/>
            <a:ext cx="13335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2550" b="1">
                <a:solidFill>
                  <a:srgbClr val="1A1A1A"/>
                </a:solidFill>
                <a:latin typeface="Arial"/>
              </a:rPr>
              <a:t>2. Fasea (3 min) — ML entrenamendua eta emaitzak</a:t>
            </a:r>
            <a:endParaRPr/>
          </a:p>
        </p:txBody>
      </p:sp>
      <p:sp>
        <p:nvSpPr>
          <p:cNvPr id="2099195835" name="TextBox 13"/>
          <p:cNvSpPr txBox="1"/>
          <p:nvPr/>
        </p:nvSpPr>
        <p:spPr bwMode="auto">
          <a:xfrm>
            <a:off x="1904999" y="5334488"/>
            <a:ext cx="1333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defRPr/>
            </a:pPr>
            <a:r>
              <a:rPr sz="2100">
                <a:solidFill>
                  <a:srgbClr val="3A3A3A"/>
                </a:solidFill>
                <a:latin typeface="Arial"/>
              </a:rPr>
              <a:t>Notebook-aren laburpena, klase-inorekaren tratamendua, metrikak eta interpretazioa.</a:t>
            </a:r>
            <a:endParaRPr/>
          </a:p>
        </p:txBody>
      </p:sp>
      <p:sp>
        <p:nvSpPr>
          <p:cNvPr id="1315215795" name="TextBox 14"/>
          <p:cNvSpPr txBox="1"/>
          <p:nvPr/>
        </p:nvSpPr>
        <p:spPr bwMode="auto">
          <a:xfrm>
            <a:off x="952499" y="5885961"/>
            <a:ext cx="952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800">
                <a:solidFill>
                  <a:srgbClr val="A02834"/>
                </a:solidFill>
                <a:latin typeface="Georgia"/>
              </a:rPr>
              <a:t>04</a:t>
            </a:r>
            <a:endParaRPr/>
          </a:p>
        </p:txBody>
      </p:sp>
      <p:sp>
        <p:nvSpPr>
          <p:cNvPr id="901406018" name="TextBox 15"/>
          <p:cNvSpPr txBox="1"/>
          <p:nvPr/>
        </p:nvSpPr>
        <p:spPr bwMode="auto">
          <a:xfrm>
            <a:off x="1904999" y="5962161"/>
            <a:ext cx="13335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2550" b="1">
                <a:solidFill>
                  <a:srgbClr val="1A1A1A"/>
                </a:solidFill>
                <a:latin typeface="Arial"/>
              </a:rPr>
              <a:t>3. Fasea (2 min) — Ekoizpena: scoring-api eta Kibana alertak</a:t>
            </a:r>
            <a:endParaRPr/>
          </a:p>
        </p:txBody>
      </p:sp>
      <p:sp>
        <p:nvSpPr>
          <p:cNvPr id="503601954" name="TextBox 16"/>
          <p:cNvSpPr txBox="1"/>
          <p:nvPr/>
        </p:nvSpPr>
        <p:spPr bwMode="auto">
          <a:xfrm>
            <a:off x="1904999" y="6804757"/>
            <a:ext cx="1333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defRPr/>
            </a:pPr>
            <a:r>
              <a:rPr sz="2100">
                <a:solidFill>
                  <a:srgbClr val="3A3A3A"/>
                </a:solidFill>
                <a:latin typeface="Arial"/>
              </a:rPr>
              <a:t>Erakutsi POST /predict deia eta nola integratzen den NiFi-rekin.</a:t>
            </a:r>
            <a:endParaRPr/>
          </a:p>
        </p:txBody>
      </p:sp>
      <p:sp>
        <p:nvSpPr>
          <p:cNvPr id="1206011069" name="TextBox 17"/>
          <p:cNvSpPr txBox="1"/>
          <p:nvPr/>
        </p:nvSpPr>
        <p:spPr bwMode="auto">
          <a:xfrm>
            <a:off x="952499" y="7111999"/>
            <a:ext cx="952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800">
                <a:solidFill>
                  <a:srgbClr val="A02834"/>
                </a:solidFill>
                <a:latin typeface="Georgia"/>
              </a:rPr>
              <a:t>05</a:t>
            </a:r>
            <a:endParaRPr/>
          </a:p>
        </p:txBody>
      </p:sp>
      <p:sp>
        <p:nvSpPr>
          <p:cNvPr id="616770421" name="TextBox 18"/>
          <p:cNvSpPr txBox="1"/>
          <p:nvPr/>
        </p:nvSpPr>
        <p:spPr bwMode="auto">
          <a:xfrm>
            <a:off x="1904999" y="7310315"/>
            <a:ext cx="13335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2550" b="1">
                <a:solidFill>
                  <a:srgbClr val="1A1A1A"/>
                </a:solidFill>
                <a:latin typeface="Arial"/>
              </a:rPr>
              <a:t>Ondorioak (1 min) — Ikasitakoa eta erronka pertsonalak</a:t>
            </a:r>
            <a:endParaRPr/>
          </a:p>
        </p:txBody>
      </p:sp>
      <p:sp>
        <p:nvSpPr>
          <p:cNvPr id="1165067164" name="TextBox 19"/>
          <p:cNvSpPr txBox="1"/>
          <p:nvPr/>
        </p:nvSpPr>
        <p:spPr bwMode="auto">
          <a:xfrm>
            <a:off x="1904999" y="7908680"/>
            <a:ext cx="1333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defRPr/>
            </a:pPr>
            <a:r>
              <a:rPr sz="2100">
                <a:solidFill>
                  <a:srgbClr val="3A3A3A"/>
                </a:solidFill>
                <a:latin typeface="Arial"/>
              </a:rPr>
              <a:t>Zer izan da zailena? Zer egin zenuke desberdin? Zer ikasi duzue?</a:t>
            </a:r>
            <a:endParaRPr/>
          </a:p>
        </p:txBody>
      </p:sp>
      <p:sp>
        <p:nvSpPr>
          <p:cNvPr id="823530760" name="Rectangle 20"/>
          <p:cNvSpPr/>
          <p:nvPr/>
        </p:nvSpPr>
        <p:spPr bwMode="auto">
          <a:xfrm>
            <a:off x="0" y="9067799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53122071" name="Connector 21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018913" name="TextBox 22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34755197" name="Picture 23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172604152" name="Picture 24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2122863229" name="Picture 25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768456374" name="Picture 26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1809212256" name="TextBox 27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23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599883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8187348" name="TextBox 2"/>
          <p:cNvSpPr txBox="1"/>
          <p:nvPr/>
        </p:nvSpPr>
        <p:spPr bwMode="auto">
          <a:xfrm>
            <a:off x="952500" y="1219200"/>
            <a:ext cx="8572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800" b="1" spc="251">
                <a:solidFill>
                  <a:srgbClr val="A02834"/>
                </a:solidFill>
                <a:latin typeface="Arial"/>
              </a:rPr>
              <a:t>BUKATZEKO</a:t>
            </a:r>
            <a:endParaRPr/>
          </a:p>
        </p:txBody>
      </p:sp>
      <p:sp>
        <p:nvSpPr>
          <p:cNvPr id="1446837363" name="TextBox 3"/>
          <p:cNvSpPr txBox="1"/>
          <p:nvPr/>
        </p:nvSpPr>
        <p:spPr bwMode="auto">
          <a:xfrm>
            <a:off x="952500" y="2476500"/>
            <a:ext cx="10477500" cy="38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defRPr/>
            </a:pPr>
            <a:r>
              <a:rPr sz="8400">
                <a:solidFill>
                  <a:srgbClr val="1A1A1A"/>
                </a:solidFill>
                <a:latin typeface="Georgia"/>
              </a:rPr>
              <a:t>Eskerrik asko,</a:t>
            </a:r>
            <a:endParaRPr/>
          </a:p>
          <a:p>
            <a:pPr algn="l">
              <a:lnSpc>
                <a:spcPct val="104000"/>
              </a:lnSpc>
              <a:defRPr/>
            </a:pPr>
            <a:r>
              <a:rPr sz="8400">
                <a:solidFill>
                  <a:srgbClr val="1A1A1A"/>
                </a:solidFill>
                <a:latin typeface="Georgia"/>
              </a:rPr>
              <a:t>animo eta lan on!</a:t>
            </a:r>
            <a:endParaRPr/>
          </a:p>
        </p:txBody>
      </p:sp>
      <p:sp>
        <p:nvSpPr>
          <p:cNvPr id="1393942266" name="TextBox 4"/>
          <p:cNvSpPr txBox="1"/>
          <p:nvPr/>
        </p:nvSpPr>
        <p:spPr bwMode="auto">
          <a:xfrm>
            <a:off x="952500" y="6096000"/>
            <a:ext cx="85725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defRPr/>
            </a:pPr>
            <a:r>
              <a:rPr sz="2550">
                <a:solidFill>
                  <a:srgbClr val="3A3A3A"/>
                </a:solidFill>
                <a:latin typeface="Arial"/>
              </a:rPr>
              <a:t>Erronka 2-n Sales Intelligence landuko dugu: datu-lakea + ML + Grafana.</a:t>
            </a:r>
            <a:endParaRPr/>
          </a:p>
        </p:txBody>
      </p:sp>
      <p:cxnSp>
        <p:nvCxnSpPr>
          <p:cNvPr id="500132598" name="Connector 5"/>
          <p:cNvCxnSpPr/>
          <p:nvPr/>
        </p:nvCxnSpPr>
        <p:spPr bwMode="auto">
          <a:xfrm>
            <a:off x="11620500" y="2476500"/>
            <a:ext cx="5715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0068071" name="TextBox 6"/>
          <p:cNvSpPr txBox="1"/>
          <p:nvPr/>
        </p:nvSpPr>
        <p:spPr bwMode="auto">
          <a:xfrm>
            <a:off x="11620500" y="2647949"/>
            <a:ext cx="2095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650" b="1" spc="99">
                <a:solidFill>
                  <a:srgbClr val="6B6B6B"/>
                </a:solidFill>
                <a:latin typeface="Courier New"/>
              </a:rPr>
              <a:t>IRAKASLEA</a:t>
            </a:r>
            <a:endParaRPr/>
          </a:p>
        </p:txBody>
      </p:sp>
      <p:sp>
        <p:nvSpPr>
          <p:cNvPr id="852001215" name="TextBox 7"/>
          <p:cNvSpPr txBox="1"/>
          <p:nvPr/>
        </p:nvSpPr>
        <p:spPr bwMode="auto">
          <a:xfrm>
            <a:off x="13906500" y="2590800"/>
            <a:ext cx="3429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800">
                <a:solidFill>
                  <a:srgbClr val="1A1A1A"/>
                </a:solidFill>
                <a:latin typeface="Arial"/>
              </a:rPr>
              <a:t>Irakaslearen izena</a:t>
            </a:r>
            <a:endParaRPr/>
          </a:p>
        </p:txBody>
      </p:sp>
      <p:cxnSp>
        <p:nvCxnSpPr>
          <p:cNvPr id="2055328381" name="Connector 8"/>
          <p:cNvCxnSpPr/>
          <p:nvPr/>
        </p:nvCxnSpPr>
        <p:spPr bwMode="auto">
          <a:xfrm>
            <a:off x="11620500" y="3390900"/>
            <a:ext cx="5715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6256783" name="TextBox 9"/>
          <p:cNvSpPr txBox="1"/>
          <p:nvPr/>
        </p:nvSpPr>
        <p:spPr bwMode="auto">
          <a:xfrm>
            <a:off x="11620500" y="3562350"/>
            <a:ext cx="2095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650" b="1" spc="99">
                <a:solidFill>
                  <a:srgbClr val="6B6B6B"/>
                </a:solidFill>
                <a:latin typeface="Courier New"/>
              </a:rPr>
              <a:t>EMAIL</a:t>
            </a:r>
            <a:endParaRPr/>
          </a:p>
        </p:txBody>
      </p:sp>
      <p:sp>
        <p:nvSpPr>
          <p:cNvPr id="2000144304" name="TextBox 10"/>
          <p:cNvSpPr txBox="1"/>
          <p:nvPr/>
        </p:nvSpPr>
        <p:spPr bwMode="auto">
          <a:xfrm>
            <a:off x="13906500" y="3505199"/>
            <a:ext cx="3429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800">
                <a:solidFill>
                  <a:srgbClr val="1A1A1A"/>
                </a:solidFill>
                <a:latin typeface="Arial"/>
              </a:rPr>
              <a:t>irakaslea@laneki.eus</a:t>
            </a:r>
            <a:endParaRPr/>
          </a:p>
        </p:txBody>
      </p:sp>
      <p:cxnSp>
        <p:nvCxnSpPr>
          <p:cNvPr id="1407576932" name="Connector 11"/>
          <p:cNvCxnSpPr/>
          <p:nvPr/>
        </p:nvCxnSpPr>
        <p:spPr bwMode="auto">
          <a:xfrm>
            <a:off x="11620500" y="4305300"/>
            <a:ext cx="5715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222424" name="TextBox 12"/>
          <p:cNvSpPr txBox="1"/>
          <p:nvPr/>
        </p:nvSpPr>
        <p:spPr bwMode="auto">
          <a:xfrm>
            <a:off x="11620500" y="4476750"/>
            <a:ext cx="2095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650" b="1" spc="99">
                <a:solidFill>
                  <a:srgbClr val="6B6B6B"/>
                </a:solidFill>
                <a:latin typeface="Courier New"/>
              </a:rPr>
              <a:t>AULA VIRTUAL</a:t>
            </a:r>
            <a:endParaRPr/>
          </a:p>
        </p:txBody>
      </p:sp>
      <p:sp>
        <p:nvSpPr>
          <p:cNvPr id="847172976" name="TextBox 13"/>
          <p:cNvSpPr txBox="1"/>
          <p:nvPr/>
        </p:nvSpPr>
        <p:spPr bwMode="auto">
          <a:xfrm>
            <a:off x="13906500" y="4419600"/>
            <a:ext cx="3429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800">
                <a:solidFill>
                  <a:srgbClr val="1A1A1A"/>
                </a:solidFill>
                <a:latin typeface="Arial"/>
              </a:rPr>
              <a:t>moodle.laneki.eus / iabd</a:t>
            </a:r>
            <a:endParaRPr/>
          </a:p>
        </p:txBody>
      </p:sp>
      <p:cxnSp>
        <p:nvCxnSpPr>
          <p:cNvPr id="1217283671" name="Connector 14"/>
          <p:cNvCxnSpPr/>
          <p:nvPr/>
        </p:nvCxnSpPr>
        <p:spPr bwMode="auto">
          <a:xfrm>
            <a:off x="11620500" y="5219700"/>
            <a:ext cx="5715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5977786" name="TextBox 15"/>
          <p:cNvSpPr txBox="1"/>
          <p:nvPr/>
        </p:nvSpPr>
        <p:spPr bwMode="auto">
          <a:xfrm>
            <a:off x="11620500" y="5391150"/>
            <a:ext cx="2095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650" b="1" spc="99">
                <a:solidFill>
                  <a:srgbClr val="6B6B6B"/>
                </a:solidFill>
                <a:latin typeface="Courier New"/>
              </a:rPr>
              <a:t>TUTORETZAK</a:t>
            </a:r>
            <a:endParaRPr/>
          </a:p>
        </p:txBody>
      </p:sp>
      <p:sp>
        <p:nvSpPr>
          <p:cNvPr id="860865904" name="TextBox 16"/>
          <p:cNvSpPr txBox="1"/>
          <p:nvPr/>
        </p:nvSpPr>
        <p:spPr bwMode="auto">
          <a:xfrm>
            <a:off x="13906500" y="5334000"/>
            <a:ext cx="3429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800">
                <a:solidFill>
                  <a:srgbClr val="1A1A1A"/>
                </a:solidFill>
                <a:latin typeface="Arial"/>
              </a:rPr>
              <a:t>Eguna · ordua</a:t>
            </a:r>
            <a:endParaRPr/>
          </a:p>
        </p:txBody>
      </p:sp>
      <p:cxnSp>
        <p:nvCxnSpPr>
          <p:cNvPr id="485230700" name="Connector 17"/>
          <p:cNvCxnSpPr/>
          <p:nvPr/>
        </p:nvCxnSpPr>
        <p:spPr bwMode="auto">
          <a:xfrm>
            <a:off x="11620500" y="6134100"/>
            <a:ext cx="5715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4226079" name="TextBox 18"/>
          <p:cNvSpPr txBox="1"/>
          <p:nvPr/>
        </p:nvSpPr>
        <p:spPr bwMode="auto">
          <a:xfrm>
            <a:off x="11620500" y="6305550"/>
            <a:ext cx="2095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650" b="1" spc="99">
                <a:solidFill>
                  <a:srgbClr val="6B6B6B"/>
                </a:solidFill>
                <a:latin typeface="Courier New"/>
              </a:rPr>
              <a:t>ERRONKA 2</a:t>
            </a:r>
            <a:endParaRPr/>
          </a:p>
        </p:txBody>
      </p:sp>
      <p:sp>
        <p:nvSpPr>
          <p:cNvPr id="1281588807" name="TextBox 19"/>
          <p:cNvSpPr txBox="1"/>
          <p:nvPr/>
        </p:nvSpPr>
        <p:spPr bwMode="auto">
          <a:xfrm>
            <a:off x="13906500" y="6248400"/>
            <a:ext cx="3429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800">
                <a:solidFill>
                  <a:srgbClr val="1A1A1A"/>
                </a:solidFill>
                <a:latin typeface="Arial"/>
              </a:rPr>
              <a:t>Sales Intelligence — RetailEus</a:t>
            </a:r>
            <a:endParaRPr/>
          </a:p>
        </p:txBody>
      </p:sp>
      <p:sp>
        <p:nvSpPr>
          <p:cNvPr id="1385991636" name="Rectangle 20"/>
          <p:cNvSpPr/>
          <p:nvPr/>
        </p:nvSpPr>
        <p:spPr bwMode="auto">
          <a:xfrm>
            <a:off x="0" y="9067800"/>
            <a:ext cx="18288000" cy="1219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89696645" name="Connector 21"/>
          <p:cNvCxnSpPr/>
          <p:nvPr/>
        </p:nvCxnSpPr>
        <p:spPr bwMode="auto">
          <a:xfrm>
            <a:off x="0" y="9067800"/>
            <a:ext cx="18288000" cy="0"/>
          </a:xfrm>
          <a:prstGeom prst="line">
            <a:avLst/>
          </a:prstGeom>
          <a:ln w="9525">
            <a:solidFill>
              <a:srgbClr val="D9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316090" name="TextBox 22"/>
          <p:cNvSpPr txBox="1"/>
          <p:nvPr/>
        </p:nvSpPr>
        <p:spPr bwMode="auto">
          <a:xfrm>
            <a:off x="952500" y="9572625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spc="27">
                <a:solidFill>
                  <a:srgbClr val="6B6B6B"/>
                </a:solidFill>
                <a:latin typeface="Courier New"/>
              </a:rPr>
              <a:t>IABD Espezializazioa · Erronka 1   ·   </a:t>
            </a:r>
            <a:endParaRPr/>
          </a:p>
        </p:txBody>
      </p:sp>
      <p:pic>
        <p:nvPicPr>
          <p:cNvPr id="1166734273" name="Picture 23" descr="laneki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7050" y="9391650"/>
            <a:ext cx="1523463" cy="571500"/>
          </a:xfrm>
          <a:prstGeom prst="rect">
            <a:avLst/>
          </a:prstGeom>
        </p:spPr>
      </p:pic>
      <p:pic>
        <p:nvPicPr>
          <p:cNvPr id="580178851" name="Picture 24" descr="gobierno-vasco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67750" y="9391650"/>
            <a:ext cx="2812809" cy="571500"/>
          </a:xfrm>
          <a:prstGeom prst="rect">
            <a:avLst/>
          </a:prstGeom>
        </p:spPr>
      </p:pic>
      <p:pic>
        <p:nvPicPr>
          <p:cNvPr id="705411546" name="Picture 25" descr="fp-euskadi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744325" y="9391650"/>
            <a:ext cx="571500" cy="571500"/>
          </a:xfrm>
          <a:prstGeom prst="rect">
            <a:avLst/>
          </a:prstGeom>
        </p:spPr>
      </p:pic>
      <p:pic>
        <p:nvPicPr>
          <p:cNvPr id="772307871" name="Picture 26" descr="ehu-gipuzkoa.jp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582525" y="9391650"/>
            <a:ext cx="2467527" cy="571500"/>
          </a:xfrm>
          <a:prstGeom prst="rect">
            <a:avLst/>
          </a:prstGeom>
        </p:spPr>
      </p:pic>
      <p:sp>
        <p:nvSpPr>
          <p:cNvPr id="40024831" name="TextBox 27"/>
          <p:cNvSpPr txBox="1"/>
          <p:nvPr/>
        </p:nvSpPr>
        <p:spPr bwMode="auto">
          <a:xfrm>
            <a:off x="15430500" y="9572625"/>
            <a:ext cx="190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sz="1350" spc="54">
                <a:solidFill>
                  <a:srgbClr val="6B6B6B"/>
                </a:solidFill>
                <a:latin typeface="Courier New"/>
              </a:rPr>
              <a:t>24 / 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3321</Words>
  <Application>Microsoft Office PowerPoint</Application>
  <PresentationFormat>Personalizado</PresentationFormat>
  <Paragraphs>292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aaretxaga</cp:lastModifiedBy>
  <cp:revision>5</cp:revision>
  <dcterms:created xsi:type="dcterms:W3CDTF">2013-01-27T09:14:16Z</dcterms:created>
  <dcterms:modified xsi:type="dcterms:W3CDTF">2026-10-12T15:39:41Z</dcterms:modified>
  <cp:category/>
</cp:coreProperties>
</file>